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 id="297" r:id="rId8"/>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6" d="100"/>
          <a:sy n="106" d="100"/>
        </p:scale>
        <p:origin x="756" y="96"/>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9/5/2026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9/5/2026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9/5/2026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9/5/2026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9/5/2026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9/5/2026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9/5/2026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8988491" y="1715881"/>
            <a:ext cx="3203509" cy="3426237"/>
          </a:xfrm>
          <a:prstGeom prst="rect">
            <a:avLst/>
          </a:prstGeom>
        </p:spPr>
      </p:pic>
      <p:sp>
        <p:nvSpPr>
          <p:cNvPr id="4" name="Subtitle 3"/>
          <p:cNvSpPr>
            <a:spLocks noGrp="1"/>
          </p:cNvSpPr>
          <p:nvPr>
            <p:ph type="subTitle" idx="1"/>
          </p:nvPr>
        </p:nvSpPr>
        <p:spPr>
          <a:xfrm>
            <a:off x="1730108" y="99634"/>
            <a:ext cx="7853344" cy="731441"/>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470443" y="-667338"/>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27707" y="744760"/>
            <a:ext cx="8672971" cy="6163995"/>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 </a:t>
            </a:r>
            <a:r>
              <a:rPr lang="en-IN" sz="2400" b="1" dirty="0">
                <a:latin typeface="Arial" panose="020B0604020202020204" pitchFamily="34" charset="0"/>
                <a:cs typeface="Arial" panose="020B0604020202020204" pitchFamily="34" charset="0"/>
              </a:rPr>
              <a:t>26117</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 </a:t>
            </a:r>
            <a:r>
              <a:rPr lang="en-IN" sz="2400" b="1" dirty="0">
                <a:latin typeface="Arial" panose="020B0604020202020204" pitchFamily="34" charset="0"/>
                <a:cs typeface="Arial" panose="020B0604020202020204" pitchFamily="34" charset="0"/>
              </a:rPr>
              <a:t>Sovereign On-Premise Agentic AI Workbench using Open-Weight Multimodal LLMs for Confidential Industrial Work</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a:t>
            </a:r>
            <a:r>
              <a:rPr lang="en-IN" sz="2400" b="1" dirty="0">
                <a:latin typeface="Arial" panose="020B0604020202020204" pitchFamily="34" charset="0"/>
                <a:cs typeface="Arial" panose="020B0604020202020204" pitchFamily="34" charset="0"/>
              </a:rPr>
              <a:t>Smart Automation</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Software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 Neoteric</a:t>
            </a:r>
            <a:endParaRPr lang="en-IN" sz="2400" b="1"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82;p15">
            <a:extLst>
              <a:ext uri="{FF2B5EF4-FFF2-40B4-BE49-F238E27FC236}">
                <a16:creationId xmlns:a16="http://schemas.microsoft.com/office/drawing/2014/main" id="{F9A03D2E-E589-39D8-F286-015833434F01}"/>
              </a:ext>
            </a:extLst>
          </p:cNvPr>
          <p:cNvSpPr/>
          <p:nvPr/>
        </p:nvSpPr>
        <p:spPr>
          <a:xfrm>
            <a:off x="125120" y="936335"/>
            <a:ext cx="4240464" cy="5792664"/>
          </a:xfrm>
          <a:custGeom>
            <a:avLst/>
            <a:gdLst/>
            <a:ahLst/>
            <a:cxnLst/>
            <a:rect l="l" t="t" r="r" b="b"/>
            <a:pathLst>
              <a:path w="1308739" h="1311123" extrusionOk="0">
                <a:moveTo>
                  <a:pt x="0" y="0"/>
                </a:moveTo>
                <a:lnTo>
                  <a:pt x="1308739" y="0"/>
                </a:lnTo>
                <a:lnTo>
                  <a:pt x="1308739" y="1311123"/>
                </a:lnTo>
                <a:lnTo>
                  <a:pt x="0" y="1311123"/>
                </a:lnTo>
                <a:lnTo>
                  <a:pt x="0" y="0"/>
                </a:lnTo>
                <a:close/>
              </a:path>
            </a:pathLst>
          </a:custGeom>
          <a:blipFill rotWithShape="1">
            <a:blip r:embed="rId3">
              <a:alphaModFix/>
            </a:blip>
            <a:stretch>
              <a:fillRect/>
            </a:stretch>
          </a:blipFill>
          <a:ln>
            <a:noFill/>
          </a:ln>
        </p:spPr>
        <p:txBody>
          <a:bodyPr/>
          <a:lstStyle/>
          <a:p>
            <a:endParaRPr lang="en-IN" dirty="0"/>
          </a:p>
        </p:txBody>
      </p:sp>
      <p:sp>
        <p:nvSpPr>
          <p:cNvPr id="15361" name="Title 1"/>
          <p:cNvSpPr>
            <a:spLocks noGrp="1"/>
          </p:cNvSpPr>
          <p:nvPr>
            <p:ph type="title"/>
          </p:nvPr>
        </p:nvSpPr>
        <p:spPr>
          <a:xfrm>
            <a:off x="779490" y="-135022"/>
            <a:ext cx="9863526" cy="874930"/>
          </a:xfrm>
        </p:spPr>
        <p:txBody>
          <a:bodyPr/>
          <a:lstStyle/>
          <a:p>
            <a:pPr eaLnBrk="1" hangingPunct="1"/>
            <a:br>
              <a:rPr lang="en-US" sz="2800" b="1" dirty="0">
                <a:latin typeface="Times New Roman" panose="02020603050405020304" pitchFamily="18" charset="0"/>
                <a:ea typeface="ＭＳ Ｐゴシック" pitchFamily="1" charset="-128"/>
                <a:cs typeface="Times New Roman" panose="02020603050405020304" pitchFamily="18" charset="0"/>
              </a:rPr>
            </a:br>
            <a:r>
              <a:rPr lang="en-US" sz="2800" b="1" dirty="0">
                <a:latin typeface="Times New Roman" panose="02020603050405020304" pitchFamily="18" charset="0"/>
                <a:ea typeface="ＭＳ Ｐゴシック" pitchFamily="1" charset="-128"/>
                <a:cs typeface="Times New Roman" panose="02020603050405020304" pitchFamily="18" charset="0"/>
              </a:rPr>
              <a:t>L.U.M.I. — Local Unified Multimodal Intelligence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162064" y="129001"/>
            <a:ext cx="1439066"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Neoteric</a:t>
            </a:r>
            <a:endParaRPr lang="en-IN" dirty="0"/>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0086" y="21296"/>
            <a:ext cx="2249850" cy="1062337"/>
          </a:xfrm>
          <a:prstGeom prst="rect">
            <a:avLst/>
          </a:prstGeom>
        </p:spPr>
      </p:pic>
      <p:grpSp>
        <p:nvGrpSpPr>
          <p:cNvPr id="15383" name="Group 15382">
            <a:extLst>
              <a:ext uri="{FF2B5EF4-FFF2-40B4-BE49-F238E27FC236}">
                <a16:creationId xmlns:a16="http://schemas.microsoft.com/office/drawing/2014/main" id="{B0D14BDD-A5A6-46B6-E4A2-B40277869297}"/>
              </a:ext>
            </a:extLst>
          </p:cNvPr>
          <p:cNvGrpSpPr/>
          <p:nvPr/>
        </p:nvGrpSpPr>
        <p:grpSpPr>
          <a:xfrm>
            <a:off x="9481854" y="996689"/>
            <a:ext cx="2555992" cy="5569211"/>
            <a:chOff x="9481854" y="1149472"/>
            <a:chExt cx="2555992" cy="5068768"/>
          </a:xfrm>
        </p:grpSpPr>
        <p:grpSp>
          <p:nvGrpSpPr>
            <p:cNvPr id="21" name="Group 20">
              <a:extLst>
                <a:ext uri="{FF2B5EF4-FFF2-40B4-BE49-F238E27FC236}">
                  <a16:creationId xmlns:a16="http://schemas.microsoft.com/office/drawing/2014/main" id="{4B791893-0866-F5B9-46CE-574F1CE8CA41}"/>
                </a:ext>
              </a:extLst>
            </p:cNvPr>
            <p:cNvGrpSpPr/>
            <p:nvPr/>
          </p:nvGrpSpPr>
          <p:grpSpPr>
            <a:xfrm>
              <a:off x="9489764" y="1149472"/>
              <a:ext cx="2548082" cy="963199"/>
              <a:chOff x="11629134" y="5062088"/>
              <a:chExt cx="3374983" cy="3623000"/>
            </a:xfrm>
          </p:grpSpPr>
          <p:sp>
            <p:nvSpPr>
              <p:cNvPr id="8" name="Google Shape;279;p15">
                <a:extLst>
                  <a:ext uri="{FF2B5EF4-FFF2-40B4-BE49-F238E27FC236}">
                    <a16:creationId xmlns:a16="http://schemas.microsoft.com/office/drawing/2014/main" id="{465E67A7-D9C4-C9C0-216E-E894F8FCA8B2}"/>
                  </a:ext>
                </a:extLst>
              </p:cNvPr>
              <p:cNvSpPr/>
              <p:nvPr/>
            </p:nvSpPr>
            <p:spPr>
              <a:xfrm>
                <a:off x="11629134" y="5062088"/>
                <a:ext cx="3374983" cy="3014509"/>
              </a:xfrm>
              <a:custGeom>
                <a:avLst/>
                <a:gdLst/>
                <a:ahLst/>
                <a:cxnLst/>
                <a:rect l="l" t="t" r="r" b="b"/>
                <a:pathLst>
                  <a:path w="1237298" h="1241814" extrusionOk="0">
                    <a:moveTo>
                      <a:pt x="0" y="0"/>
                    </a:moveTo>
                    <a:lnTo>
                      <a:pt x="1237298" y="0"/>
                    </a:lnTo>
                    <a:lnTo>
                      <a:pt x="1237298" y="1241813"/>
                    </a:lnTo>
                    <a:lnTo>
                      <a:pt x="0" y="1241813"/>
                    </a:lnTo>
                    <a:lnTo>
                      <a:pt x="0" y="0"/>
                    </a:lnTo>
                    <a:close/>
                  </a:path>
                </a:pathLst>
              </a:custGeom>
              <a:blipFill rotWithShape="1">
                <a:blip r:embed="rId5">
                  <a:alphaModFix/>
                </a:blip>
                <a:stretch>
                  <a:fillRect/>
                </a:stretch>
              </a:blipFill>
              <a:ln>
                <a:noFill/>
              </a:ln>
            </p:spPr>
            <p:txBody>
              <a:bodyPr/>
              <a:lstStyle/>
              <a:p>
                <a:endParaRPr lang="en-IN" dirty="0"/>
              </a:p>
            </p:txBody>
          </p:sp>
          <p:sp>
            <p:nvSpPr>
              <p:cNvPr id="12" name="TextBox 8">
                <a:extLst>
                  <a:ext uri="{FF2B5EF4-FFF2-40B4-BE49-F238E27FC236}">
                    <a16:creationId xmlns:a16="http://schemas.microsoft.com/office/drawing/2014/main" id="{EE22AD16-BB94-9113-E44C-F19E102335FA}"/>
                  </a:ext>
                </a:extLst>
              </p:cNvPr>
              <p:cNvSpPr txBox="1">
                <a:spLocks noChangeArrowheads="1"/>
              </p:cNvSpPr>
              <p:nvPr/>
            </p:nvSpPr>
            <p:spPr bwMode="auto">
              <a:xfrm>
                <a:off x="12192121" y="5759362"/>
                <a:ext cx="2311062" cy="2925726"/>
              </a:xfrm>
              <a:prstGeom prst="rect">
                <a:avLst/>
              </a:prstGeom>
              <a:noFill/>
              <a:ln w="9525">
                <a:noFill/>
                <a:miter lim="800000"/>
                <a:headEnd/>
                <a:tailEnd/>
              </a:ln>
            </p:spPr>
            <p:txBody>
              <a:bodyPr wrap="square">
                <a:spAutoFit/>
              </a:bodyPr>
              <a:lstStyle/>
              <a:p>
                <a:pPr algn="ctr"/>
                <a:r>
                  <a:rPr lang="en-GB" b="1" dirty="0"/>
                  <a:t>Why Different?</a:t>
                </a:r>
                <a:endParaRPr lang="en-US" b="1" u="sng" dirty="0">
                  <a:solidFill>
                    <a:schemeClr val="tx2"/>
                  </a:solidFill>
                  <a:latin typeface="Arial" pitchFamily="34" charset="0"/>
                  <a:cs typeface="Arial" pitchFamily="34" charset="0"/>
                </a:endParaRPr>
              </a:p>
              <a:p>
                <a:pPr marL="342900" indent="-342900">
                  <a:buFont typeface="Arial" panose="020B0604020202020204" pitchFamily="34" charset="0"/>
                  <a:buChar char="•"/>
                </a:pPr>
                <a:endParaRPr lang="en-US" sz="2000" u="sng" dirty="0">
                  <a:solidFill>
                    <a:schemeClr val="tx2"/>
                  </a:solidFill>
                  <a:latin typeface="Arial" pitchFamily="34" charset="0"/>
                  <a:cs typeface="Arial" pitchFamily="34" charset="0"/>
                </a:endParaRPr>
              </a:p>
            </p:txBody>
          </p:sp>
        </p:grpSp>
        <p:sp>
          <p:nvSpPr>
            <p:cNvPr id="14" name="Rectangle: Rounded Corners 13">
              <a:extLst>
                <a:ext uri="{FF2B5EF4-FFF2-40B4-BE49-F238E27FC236}">
                  <a16:creationId xmlns:a16="http://schemas.microsoft.com/office/drawing/2014/main" id="{6BED57F1-D790-F544-AC81-78AC9959028C}"/>
                </a:ext>
              </a:extLst>
            </p:cNvPr>
            <p:cNvSpPr/>
            <p:nvPr/>
          </p:nvSpPr>
          <p:spPr>
            <a:xfrm>
              <a:off x="9481854" y="2106884"/>
              <a:ext cx="2548082" cy="807733"/>
            </a:xfrm>
            <a:prstGeom prst="roundRect">
              <a:avLst/>
            </a:prstGeom>
            <a:solidFill>
              <a:schemeClr val="tx2">
                <a:lumMod val="75000"/>
              </a:schemeClr>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600" dirty="0"/>
                <a:t>🔐 </a:t>
              </a:r>
              <a:r>
                <a:rPr lang="en-IN" sz="1600" b="1" dirty="0"/>
                <a:t>Data Sovereignty:</a:t>
              </a:r>
            </a:p>
            <a:p>
              <a:pPr algn="ctr"/>
              <a:r>
                <a:rPr lang="en-IN" sz="1600" dirty="0"/>
                <a:t>Fully on-premise &amp; air-gapped.</a:t>
              </a:r>
              <a:endParaRPr lang="en-IN" sz="2400" dirty="0"/>
            </a:p>
          </p:txBody>
        </p:sp>
        <p:sp>
          <p:nvSpPr>
            <p:cNvPr id="16" name="Rectangle: Rounded Corners 15">
              <a:extLst>
                <a:ext uri="{FF2B5EF4-FFF2-40B4-BE49-F238E27FC236}">
                  <a16:creationId xmlns:a16="http://schemas.microsoft.com/office/drawing/2014/main" id="{3980D3CB-D8B6-995C-9995-B184C2CD2B33}"/>
                </a:ext>
              </a:extLst>
            </p:cNvPr>
            <p:cNvSpPr/>
            <p:nvPr/>
          </p:nvSpPr>
          <p:spPr>
            <a:xfrm>
              <a:off x="9789287" y="4254780"/>
              <a:ext cx="1995883" cy="876585"/>
            </a:xfrm>
            <a:prstGeom prst="roundRect">
              <a:avLst/>
            </a:prstGeom>
            <a:solidFill>
              <a:schemeClr val="tx2">
                <a:lumMod val="75000"/>
              </a:schemeClr>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lvl="0" algn="ctr"/>
              <a:r>
                <a:rPr lang="en-IN" sz="1600" dirty="0"/>
                <a:t>🤖 </a:t>
              </a:r>
              <a:r>
                <a:rPr lang="en-IN" sz="1600" b="1" dirty="0"/>
                <a:t>Agentic AI:</a:t>
              </a:r>
              <a:r>
                <a:rPr lang="en-IN" sz="1600" dirty="0"/>
                <a:t>  Plans, executes, verifies &amp; delivers.</a:t>
              </a:r>
              <a:endParaRPr lang="en-IN" sz="2400" dirty="0"/>
            </a:p>
          </p:txBody>
        </p:sp>
        <p:sp>
          <p:nvSpPr>
            <p:cNvPr id="18" name="Rectangle: Rounded Corners 17">
              <a:extLst>
                <a:ext uri="{FF2B5EF4-FFF2-40B4-BE49-F238E27FC236}">
                  <a16:creationId xmlns:a16="http://schemas.microsoft.com/office/drawing/2014/main" id="{B1E41478-8ED1-5FC3-29AB-40CB58A6A371}"/>
                </a:ext>
              </a:extLst>
            </p:cNvPr>
            <p:cNvSpPr/>
            <p:nvPr/>
          </p:nvSpPr>
          <p:spPr>
            <a:xfrm>
              <a:off x="9639057" y="5251469"/>
              <a:ext cx="2273034" cy="966771"/>
            </a:xfrm>
            <a:prstGeom prst="roundRect">
              <a:avLst/>
            </a:prstGeom>
            <a:solidFill>
              <a:schemeClr val="tx2">
                <a:lumMod val="75000"/>
              </a:schemeClr>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600" dirty="0"/>
                <a:t>🧠 </a:t>
              </a:r>
              <a:r>
                <a:rPr lang="en-IN" sz="1600" b="1" dirty="0"/>
                <a:t>Multi-Model AI :</a:t>
              </a:r>
              <a:r>
                <a:rPr lang="en-IN" sz="1600" dirty="0"/>
                <a:t> </a:t>
              </a:r>
            </a:p>
            <a:p>
              <a:pPr algn="ctr"/>
              <a:r>
                <a:rPr lang="en-IN" sz="1600" dirty="0"/>
                <a:t> Right model for text, code, images &amp; engineering tasks.</a:t>
              </a:r>
              <a:endParaRPr lang="en-IN" sz="2400" dirty="0"/>
            </a:p>
          </p:txBody>
        </p:sp>
        <p:sp>
          <p:nvSpPr>
            <p:cNvPr id="20" name="Rectangle: Rounded Corners 19">
              <a:extLst>
                <a:ext uri="{FF2B5EF4-FFF2-40B4-BE49-F238E27FC236}">
                  <a16:creationId xmlns:a16="http://schemas.microsoft.com/office/drawing/2014/main" id="{9D65CF1F-8DCC-485D-BF7D-9FB776FAA2E0}"/>
                </a:ext>
              </a:extLst>
            </p:cNvPr>
            <p:cNvSpPr/>
            <p:nvPr/>
          </p:nvSpPr>
          <p:spPr>
            <a:xfrm>
              <a:off x="9489764" y="3063276"/>
              <a:ext cx="2540172" cy="1071400"/>
            </a:xfrm>
            <a:prstGeom prst="roundRect">
              <a:avLst/>
            </a:prstGeom>
            <a:solidFill>
              <a:schemeClr val="tx2">
                <a:lumMod val="75000"/>
              </a:schemeClr>
            </a:solidFill>
            <a:ln>
              <a:solidFill>
                <a:schemeClr val="tx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lvl="0" algn="ctr"/>
              <a:r>
                <a:rPr lang="en-IN" sz="1600" dirty="0"/>
                <a:t>🏭 </a:t>
              </a:r>
              <a:r>
                <a:rPr lang="en-IN" sz="1600" b="1" dirty="0"/>
                <a:t>Industrial Workbench:</a:t>
              </a:r>
              <a:endParaRPr lang="en-IN" sz="1600" dirty="0"/>
            </a:p>
            <a:p>
              <a:pPr lvl="0" algn="ctr"/>
              <a:r>
                <a:rPr lang="en-IN" sz="1600" dirty="0"/>
                <a:t> RAG, OCR/VLM, tools &amp; document automation.</a:t>
              </a:r>
            </a:p>
          </p:txBody>
        </p:sp>
      </p:grpSp>
      <p:grpSp>
        <p:nvGrpSpPr>
          <p:cNvPr id="15372" name="Group 15371">
            <a:extLst>
              <a:ext uri="{FF2B5EF4-FFF2-40B4-BE49-F238E27FC236}">
                <a16:creationId xmlns:a16="http://schemas.microsoft.com/office/drawing/2014/main" id="{17C00AC9-3778-3625-ED3C-00D1335A333A}"/>
              </a:ext>
            </a:extLst>
          </p:cNvPr>
          <p:cNvGrpSpPr/>
          <p:nvPr/>
        </p:nvGrpSpPr>
        <p:grpSpPr>
          <a:xfrm>
            <a:off x="4550712" y="876431"/>
            <a:ext cx="4993811" cy="3695569"/>
            <a:chOff x="4556325" y="1687006"/>
            <a:chExt cx="5183023" cy="4536753"/>
          </a:xfrm>
        </p:grpSpPr>
        <p:grpSp>
          <p:nvGrpSpPr>
            <p:cNvPr id="15369" name="Group 15368">
              <a:extLst>
                <a:ext uri="{FF2B5EF4-FFF2-40B4-BE49-F238E27FC236}">
                  <a16:creationId xmlns:a16="http://schemas.microsoft.com/office/drawing/2014/main" id="{2A52D639-582E-673F-3E4A-C36F3D9758B0}"/>
                </a:ext>
              </a:extLst>
            </p:cNvPr>
            <p:cNvGrpSpPr/>
            <p:nvPr/>
          </p:nvGrpSpPr>
          <p:grpSpPr>
            <a:xfrm>
              <a:off x="4556325" y="1687006"/>
              <a:ext cx="5183023" cy="4536753"/>
              <a:chOff x="4693691" y="1429199"/>
              <a:chExt cx="5183023" cy="4536753"/>
            </a:xfrm>
          </p:grpSpPr>
          <p:grpSp>
            <p:nvGrpSpPr>
              <p:cNvPr id="15360" name="Group 15359">
                <a:extLst>
                  <a:ext uri="{FF2B5EF4-FFF2-40B4-BE49-F238E27FC236}">
                    <a16:creationId xmlns:a16="http://schemas.microsoft.com/office/drawing/2014/main" id="{22636C06-72FC-DAC5-3810-50F870CF35D4}"/>
                  </a:ext>
                </a:extLst>
              </p:cNvPr>
              <p:cNvGrpSpPr/>
              <p:nvPr/>
            </p:nvGrpSpPr>
            <p:grpSpPr>
              <a:xfrm>
                <a:off x="4693691" y="1429199"/>
                <a:ext cx="5183023" cy="4536753"/>
                <a:chOff x="4693691" y="1429199"/>
                <a:chExt cx="5183023" cy="4536753"/>
              </a:xfrm>
            </p:grpSpPr>
            <p:sp>
              <p:nvSpPr>
                <p:cNvPr id="29" name="Google Shape;174;p14">
                  <a:extLst>
                    <a:ext uri="{FF2B5EF4-FFF2-40B4-BE49-F238E27FC236}">
                      <a16:creationId xmlns:a16="http://schemas.microsoft.com/office/drawing/2014/main" id="{525BC4CF-FC9A-564F-8CE5-CD9EF35549B4}"/>
                    </a:ext>
                  </a:extLst>
                </p:cNvPr>
                <p:cNvSpPr/>
                <p:nvPr/>
              </p:nvSpPr>
              <p:spPr>
                <a:xfrm rot="10800000">
                  <a:off x="4693691" y="1429199"/>
                  <a:ext cx="2374677" cy="2193121"/>
                </a:xfrm>
                <a:custGeom>
                  <a:avLst/>
                  <a:gdLst/>
                  <a:ahLst/>
                  <a:cxnLst/>
                  <a:rect l="l" t="t" r="r" b="b"/>
                  <a:pathLst>
                    <a:path w="757494" h="758874" extrusionOk="0">
                      <a:moveTo>
                        <a:pt x="0" y="0"/>
                      </a:moveTo>
                      <a:lnTo>
                        <a:pt x="757495" y="0"/>
                      </a:lnTo>
                      <a:lnTo>
                        <a:pt x="757495" y="758874"/>
                      </a:lnTo>
                      <a:lnTo>
                        <a:pt x="0" y="758874"/>
                      </a:lnTo>
                      <a:lnTo>
                        <a:pt x="0" y="0"/>
                      </a:lnTo>
                      <a:close/>
                    </a:path>
                  </a:pathLst>
                </a:custGeom>
                <a:blipFill rotWithShape="1">
                  <a:blip r:embed="rId6">
                    <a:alphaModFix/>
                  </a:blip>
                  <a:stretch>
                    <a:fillRect/>
                  </a:stretch>
                </a:blipFill>
                <a:ln>
                  <a:noFill/>
                </a:ln>
              </p:spPr>
              <p:txBody>
                <a:bodyPr/>
                <a:lstStyle/>
                <a:p>
                  <a:endParaRPr lang="en-IN"/>
                </a:p>
              </p:txBody>
            </p:sp>
            <p:grpSp>
              <p:nvGrpSpPr>
                <p:cNvPr id="63" name="Group 62">
                  <a:extLst>
                    <a:ext uri="{FF2B5EF4-FFF2-40B4-BE49-F238E27FC236}">
                      <a16:creationId xmlns:a16="http://schemas.microsoft.com/office/drawing/2014/main" id="{FB6E55E8-45E4-BE64-82E5-3C75733309BE}"/>
                    </a:ext>
                  </a:extLst>
                </p:cNvPr>
                <p:cNvGrpSpPr/>
                <p:nvPr/>
              </p:nvGrpSpPr>
              <p:grpSpPr>
                <a:xfrm>
                  <a:off x="4744492" y="1450388"/>
                  <a:ext cx="5132222" cy="4515564"/>
                  <a:chOff x="4744492" y="1450388"/>
                  <a:chExt cx="5132222" cy="4515564"/>
                </a:xfrm>
              </p:grpSpPr>
              <p:sp>
                <p:nvSpPr>
                  <p:cNvPr id="27" name="Google Shape;174;p14">
                    <a:extLst>
                      <a:ext uri="{FF2B5EF4-FFF2-40B4-BE49-F238E27FC236}">
                        <a16:creationId xmlns:a16="http://schemas.microsoft.com/office/drawing/2014/main" id="{210758B5-DC20-86CB-5F7A-83CF58C65164}"/>
                      </a:ext>
                    </a:extLst>
                  </p:cNvPr>
                  <p:cNvSpPr/>
                  <p:nvPr/>
                </p:nvSpPr>
                <p:spPr>
                  <a:xfrm rot="16200000">
                    <a:off x="7366260" y="1402579"/>
                    <a:ext cx="2171928" cy="2267545"/>
                  </a:xfrm>
                  <a:custGeom>
                    <a:avLst/>
                    <a:gdLst/>
                    <a:ahLst/>
                    <a:cxnLst/>
                    <a:rect l="l" t="t" r="r" b="b"/>
                    <a:pathLst>
                      <a:path w="757494" h="758874" extrusionOk="0">
                        <a:moveTo>
                          <a:pt x="0" y="0"/>
                        </a:moveTo>
                        <a:lnTo>
                          <a:pt x="757495" y="0"/>
                        </a:lnTo>
                        <a:lnTo>
                          <a:pt x="757495" y="758874"/>
                        </a:lnTo>
                        <a:lnTo>
                          <a:pt x="0" y="758874"/>
                        </a:lnTo>
                        <a:lnTo>
                          <a:pt x="0" y="0"/>
                        </a:lnTo>
                        <a:close/>
                      </a:path>
                    </a:pathLst>
                  </a:custGeom>
                  <a:blipFill rotWithShape="1">
                    <a:blip r:embed="rId6">
                      <a:alphaModFix/>
                    </a:blip>
                    <a:stretch>
                      <a:fillRect/>
                    </a:stretch>
                  </a:blipFill>
                  <a:ln>
                    <a:noFill/>
                  </a:ln>
                </p:spPr>
                <p:txBody>
                  <a:bodyPr/>
                  <a:lstStyle/>
                  <a:p>
                    <a:endParaRPr lang="en-IN" dirty="0"/>
                  </a:p>
                </p:txBody>
              </p:sp>
              <p:grpSp>
                <p:nvGrpSpPr>
                  <p:cNvPr id="62" name="Group 61">
                    <a:extLst>
                      <a:ext uri="{FF2B5EF4-FFF2-40B4-BE49-F238E27FC236}">
                        <a16:creationId xmlns:a16="http://schemas.microsoft.com/office/drawing/2014/main" id="{9C759001-0818-3BB4-2ADB-D624EFE9B8E0}"/>
                      </a:ext>
                    </a:extLst>
                  </p:cNvPr>
                  <p:cNvGrpSpPr/>
                  <p:nvPr/>
                </p:nvGrpSpPr>
                <p:grpSpPr>
                  <a:xfrm>
                    <a:off x="4744492" y="1556409"/>
                    <a:ext cx="5132222" cy="4409543"/>
                    <a:chOff x="4744492" y="1556409"/>
                    <a:chExt cx="5132222" cy="4409543"/>
                  </a:xfrm>
                </p:grpSpPr>
                <p:sp>
                  <p:nvSpPr>
                    <p:cNvPr id="47" name="TextBox 46">
                      <a:extLst>
                        <a:ext uri="{FF2B5EF4-FFF2-40B4-BE49-F238E27FC236}">
                          <a16:creationId xmlns:a16="http://schemas.microsoft.com/office/drawing/2014/main" id="{5C81C534-0C0E-11D1-D0E6-F77AA8323BF3}"/>
                        </a:ext>
                      </a:extLst>
                    </p:cNvPr>
                    <p:cNvSpPr txBox="1"/>
                    <p:nvPr/>
                  </p:nvSpPr>
                  <p:spPr>
                    <a:xfrm>
                      <a:off x="6414848" y="3993170"/>
                      <a:ext cx="587472" cy="523220"/>
                    </a:xfrm>
                    <a:prstGeom prst="rect">
                      <a:avLst/>
                    </a:prstGeom>
                    <a:noFill/>
                  </p:spPr>
                  <p:txBody>
                    <a:bodyPr wrap="square">
                      <a:spAutoFit/>
                    </a:bodyPr>
                    <a:lstStyle/>
                    <a:p>
                      <a:r>
                        <a:rPr lang="en-IN" sz="2800" dirty="0"/>
                        <a:t>🧠</a:t>
                      </a:r>
                    </a:p>
                  </p:txBody>
                </p:sp>
                <p:sp>
                  <p:nvSpPr>
                    <p:cNvPr id="51" name="TextBox 50">
                      <a:extLst>
                        <a:ext uri="{FF2B5EF4-FFF2-40B4-BE49-F238E27FC236}">
                          <a16:creationId xmlns:a16="http://schemas.microsoft.com/office/drawing/2014/main" id="{1471F4D2-A6B4-ED47-A718-603AE87A5804}"/>
                        </a:ext>
                      </a:extLst>
                    </p:cNvPr>
                    <p:cNvSpPr txBox="1"/>
                    <p:nvPr/>
                  </p:nvSpPr>
                  <p:spPr>
                    <a:xfrm>
                      <a:off x="5082394" y="4698953"/>
                      <a:ext cx="2060304" cy="646331"/>
                    </a:xfrm>
                    <a:prstGeom prst="rect">
                      <a:avLst/>
                    </a:prstGeom>
                    <a:noFill/>
                  </p:spPr>
                  <p:txBody>
                    <a:bodyPr wrap="square">
                      <a:spAutoFit/>
                    </a:bodyPr>
                    <a:lstStyle/>
                    <a:p>
                      <a:pPr algn="ctr"/>
                      <a:r>
                        <a:rPr lang="en-IN" dirty="0"/>
                        <a:t>Right model for every task.</a:t>
                      </a:r>
                    </a:p>
                  </p:txBody>
                </p:sp>
                <p:grpSp>
                  <p:nvGrpSpPr>
                    <p:cNvPr id="61" name="Group 60">
                      <a:extLst>
                        <a:ext uri="{FF2B5EF4-FFF2-40B4-BE49-F238E27FC236}">
                          <a16:creationId xmlns:a16="http://schemas.microsoft.com/office/drawing/2014/main" id="{EA8DE24D-A77E-7367-D43F-ED5201E642DB}"/>
                        </a:ext>
                      </a:extLst>
                    </p:cNvPr>
                    <p:cNvGrpSpPr/>
                    <p:nvPr/>
                  </p:nvGrpSpPr>
                  <p:grpSpPr>
                    <a:xfrm>
                      <a:off x="4744492" y="1556409"/>
                      <a:ext cx="5132222" cy="4409543"/>
                      <a:chOff x="4744492" y="1556409"/>
                      <a:chExt cx="5132222" cy="4409543"/>
                    </a:xfrm>
                  </p:grpSpPr>
                  <p:sp>
                    <p:nvSpPr>
                      <p:cNvPr id="31" name="TextBox 30">
                        <a:extLst>
                          <a:ext uri="{FF2B5EF4-FFF2-40B4-BE49-F238E27FC236}">
                            <a16:creationId xmlns:a16="http://schemas.microsoft.com/office/drawing/2014/main" id="{5BC0FF62-6C8D-CB55-9F6C-497C4A70D9CC}"/>
                          </a:ext>
                        </a:extLst>
                      </p:cNvPr>
                      <p:cNvSpPr txBox="1"/>
                      <p:nvPr/>
                    </p:nvSpPr>
                    <p:spPr>
                      <a:xfrm>
                        <a:off x="5560587" y="3472106"/>
                        <a:ext cx="3224071" cy="692040"/>
                      </a:xfrm>
                      <a:prstGeom prst="rect">
                        <a:avLst/>
                      </a:prstGeom>
                      <a:noFill/>
                    </p:spPr>
                    <p:txBody>
                      <a:bodyPr wrap="square">
                        <a:spAutoFit/>
                      </a:bodyPr>
                      <a:lstStyle/>
                      <a:p>
                        <a:pPr algn="ctr"/>
                        <a:r>
                          <a:rPr lang="en-GB" sz="3200" b="1" dirty="0"/>
                          <a:t>Our Solution</a:t>
                        </a:r>
                        <a:endParaRPr lang="en-US" sz="3200" b="1" u="sng" dirty="0">
                          <a:solidFill>
                            <a:schemeClr val="tx2"/>
                          </a:solidFill>
                          <a:latin typeface="Arial" pitchFamily="34" charset="0"/>
                          <a:cs typeface="Arial" pitchFamily="34" charset="0"/>
                        </a:endParaRPr>
                      </a:p>
                    </p:txBody>
                  </p:sp>
                  <p:grpSp>
                    <p:nvGrpSpPr>
                      <p:cNvPr id="60" name="Group 59">
                        <a:extLst>
                          <a:ext uri="{FF2B5EF4-FFF2-40B4-BE49-F238E27FC236}">
                            <a16:creationId xmlns:a16="http://schemas.microsoft.com/office/drawing/2014/main" id="{D3327207-BC63-910F-F628-EDBDDC8EA0EF}"/>
                          </a:ext>
                        </a:extLst>
                      </p:cNvPr>
                      <p:cNvGrpSpPr/>
                      <p:nvPr/>
                    </p:nvGrpSpPr>
                    <p:grpSpPr>
                      <a:xfrm>
                        <a:off x="4744492" y="1556409"/>
                        <a:ext cx="5132222" cy="4409543"/>
                        <a:chOff x="4744492" y="1556409"/>
                        <a:chExt cx="5132222" cy="4409543"/>
                      </a:xfrm>
                    </p:grpSpPr>
                    <p:sp>
                      <p:nvSpPr>
                        <p:cNvPr id="23" name="Google Shape;174;p14">
                          <a:extLst>
                            <a:ext uri="{FF2B5EF4-FFF2-40B4-BE49-F238E27FC236}">
                              <a16:creationId xmlns:a16="http://schemas.microsoft.com/office/drawing/2014/main" id="{38B0B73C-998E-B74F-2C0C-145288E484C2}"/>
                            </a:ext>
                          </a:extLst>
                        </p:cNvPr>
                        <p:cNvSpPr/>
                        <p:nvPr/>
                      </p:nvSpPr>
                      <p:spPr>
                        <a:xfrm>
                          <a:off x="7318452" y="4003442"/>
                          <a:ext cx="2226412" cy="1962507"/>
                        </a:xfrm>
                        <a:custGeom>
                          <a:avLst/>
                          <a:gdLst/>
                          <a:ahLst/>
                          <a:cxnLst/>
                          <a:rect l="l" t="t" r="r" b="b"/>
                          <a:pathLst>
                            <a:path w="757494" h="758874" extrusionOk="0">
                              <a:moveTo>
                                <a:pt x="0" y="0"/>
                              </a:moveTo>
                              <a:lnTo>
                                <a:pt x="757495" y="0"/>
                              </a:lnTo>
                              <a:lnTo>
                                <a:pt x="757495" y="758874"/>
                              </a:lnTo>
                              <a:lnTo>
                                <a:pt x="0" y="758874"/>
                              </a:lnTo>
                              <a:lnTo>
                                <a:pt x="0" y="0"/>
                              </a:lnTo>
                              <a:close/>
                            </a:path>
                          </a:pathLst>
                        </a:custGeom>
                        <a:blipFill rotWithShape="1">
                          <a:blip r:embed="rId6">
                            <a:alphaModFix/>
                          </a:blip>
                          <a:stretch>
                            <a:fillRect/>
                          </a:stretch>
                        </a:blipFill>
                        <a:ln>
                          <a:noFill/>
                        </a:ln>
                      </p:spPr>
                      <p:txBody>
                        <a:bodyPr/>
                        <a:lstStyle/>
                        <a:p>
                          <a:endParaRPr lang="en-IN" dirty="0"/>
                        </a:p>
                      </p:txBody>
                    </p:sp>
                    <p:sp>
                      <p:nvSpPr>
                        <p:cNvPr id="25" name="Google Shape;174;p14">
                          <a:extLst>
                            <a:ext uri="{FF2B5EF4-FFF2-40B4-BE49-F238E27FC236}">
                              <a16:creationId xmlns:a16="http://schemas.microsoft.com/office/drawing/2014/main" id="{E3C50E92-CD2B-CE2A-71D4-FCDCCE6C76B5}"/>
                            </a:ext>
                          </a:extLst>
                        </p:cNvPr>
                        <p:cNvSpPr/>
                        <p:nvPr/>
                      </p:nvSpPr>
                      <p:spPr>
                        <a:xfrm rot="5400000">
                          <a:off x="4946992" y="3800945"/>
                          <a:ext cx="1962507" cy="2367507"/>
                        </a:xfrm>
                        <a:custGeom>
                          <a:avLst/>
                          <a:gdLst/>
                          <a:ahLst/>
                          <a:cxnLst/>
                          <a:rect l="l" t="t" r="r" b="b"/>
                          <a:pathLst>
                            <a:path w="757494" h="758874" extrusionOk="0">
                              <a:moveTo>
                                <a:pt x="0" y="0"/>
                              </a:moveTo>
                              <a:lnTo>
                                <a:pt x="757495" y="0"/>
                              </a:lnTo>
                              <a:lnTo>
                                <a:pt x="757495" y="758874"/>
                              </a:lnTo>
                              <a:lnTo>
                                <a:pt x="0" y="758874"/>
                              </a:lnTo>
                              <a:lnTo>
                                <a:pt x="0" y="0"/>
                              </a:lnTo>
                              <a:close/>
                            </a:path>
                          </a:pathLst>
                        </a:custGeom>
                        <a:blipFill rotWithShape="1">
                          <a:blip r:embed="rId6">
                            <a:alphaModFix/>
                          </a:blip>
                          <a:stretch>
                            <a:fillRect/>
                          </a:stretch>
                        </a:blipFill>
                        <a:ln>
                          <a:noFill/>
                        </a:ln>
                      </p:spPr>
                      <p:txBody>
                        <a:bodyPr/>
                        <a:lstStyle/>
                        <a:p>
                          <a:endParaRPr lang="en-IN"/>
                        </a:p>
                      </p:txBody>
                    </p:sp>
                    <p:sp>
                      <p:nvSpPr>
                        <p:cNvPr id="37" name="TextBox 36">
                          <a:extLst>
                            <a:ext uri="{FF2B5EF4-FFF2-40B4-BE49-F238E27FC236}">
                              <a16:creationId xmlns:a16="http://schemas.microsoft.com/office/drawing/2014/main" id="{EF6DD742-2230-9054-31D7-23D8F15535B1}"/>
                            </a:ext>
                          </a:extLst>
                        </p:cNvPr>
                        <p:cNvSpPr txBox="1"/>
                        <p:nvPr/>
                      </p:nvSpPr>
                      <p:spPr>
                        <a:xfrm>
                          <a:off x="5000155" y="2521755"/>
                          <a:ext cx="2179481" cy="923329"/>
                        </a:xfrm>
                        <a:prstGeom prst="rect">
                          <a:avLst/>
                        </a:prstGeom>
                        <a:noFill/>
                      </p:spPr>
                      <p:txBody>
                        <a:bodyPr wrap="square">
                          <a:spAutoFit/>
                        </a:bodyPr>
                        <a:lstStyle/>
                        <a:p>
                          <a:pPr algn="ctr"/>
                          <a:r>
                            <a:rPr lang="en-IN" dirty="0"/>
                            <a:t>Data stays fully within the organization.</a:t>
                          </a:r>
                        </a:p>
                      </p:txBody>
                    </p:sp>
                    <p:sp>
                      <p:nvSpPr>
                        <p:cNvPr id="39" name="TextBox 38">
                          <a:extLst>
                            <a:ext uri="{FF2B5EF4-FFF2-40B4-BE49-F238E27FC236}">
                              <a16:creationId xmlns:a16="http://schemas.microsoft.com/office/drawing/2014/main" id="{D3275A17-6E18-E5E7-69FC-9FBD80225F61}"/>
                            </a:ext>
                          </a:extLst>
                        </p:cNvPr>
                        <p:cNvSpPr txBox="1"/>
                        <p:nvPr/>
                      </p:nvSpPr>
                      <p:spPr>
                        <a:xfrm>
                          <a:off x="7446572" y="2090731"/>
                          <a:ext cx="1291028" cy="369332"/>
                        </a:xfrm>
                        <a:prstGeom prst="rect">
                          <a:avLst/>
                        </a:prstGeom>
                        <a:noFill/>
                      </p:spPr>
                      <p:txBody>
                        <a:bodyPr wrap="square">
                          <a:spAutoFit/>
                        </a:bodyPr>
                        <a:lstStyle/>
                        <a:p>
                          <a:r>
                            <a:rPr lang="en-IN" b="1" dirty="0"/>
                            <a:t>Agentic AI</a:t>
                          </a:r>
                          <a:endParaRPr lang="en-IN" dirty="0"/>
                        </a:p>
                      </p:txBody>
                    </p:sp>
                    <p:sp>
                      <p:nvSpPr>
                        <p:cNvPr id="41" name="TextBox 40">
                          <a:extLst>
                            <a:ext uri="{FF2B5EF4-FFF2-40B4-BE49-F238E27FC236}">
                              <a16:creationId xmlns:a16="http://schemas.microsoft.com/office/drawing/2014/main" id="{ABC2F737-F496-2EC1-3A15-37570F8202C2}"/>
                            </a:ext>
                          </a:extLst>
                        </p:cNvPr>
                        <p:cNvSpPr txBox="1"/>
                        <p:nvPr/>
                      </p:nvSpPr>
                      <p:spPr>
                        <a:xfrm>
                          <a:off x="7307094" y="1576830"/>
                          <a:ext cx="726069" cy="523220"/>
                        </a:xfrm>
                        <a:prstGeom prst="rect">
                          <a:avLst/>
                        </a:prstGeom>
                        <a:noFill/>
                      </p:spPr>
                      <p:txBody>
                        <a:bodyPr wrap="square">
                          <a:spAutoFit/>
                        </a:bodyPr>
                        <a:lstStyle/>
                        <a:p>
                          <a:r>
                            <a:rPr lang="en-IN" sz="2800" dirty="0"/>
                            <a:t>🤖</a:t>
                          </a:r>
                        </a:p>
                      </p:txBody>
                    </p:sp>
                    <p:sp>
                      <p:nvSpPr>
                        <p:cNvPr id="43" name="TextBox 42">
                          <a:extLst>
                            <a:ext uri="{FF2B5EF4-FFF2-40B4-BE49-F238E27FC236}">
                              <a16:creationId xmlns:a16="http://schemas.microsoft.com/office/drawing/2014/main" id="{9853737F-CCA5-C7AC-D4EE-AE3BD2B34D76}"/>
                            </a:ext>
                          </a:extLst>
                        </p:cNvPr>
                        <p:cNvSpPr txBox="1"/>
                        <p:nvPr/>
                      </p:nvSpPr>
                      <p:spPr>
                        <a:xfrm>
                          <a:off x="7348555" y="2448946"/>
                          <a:ext cx="1990636" cy="923330"/>
                        </a:xfrm>
                        <a:prstGeom prst="rect">
                          <a:avLst/>
                        </a:prstGeom>
                        <a:noFill/>
                      </p:spPr>
                      <p:txBody>
                        <a:bodyPr wrap="square">
                          <a:spAutoFit/>
                        </a:bodyPr>
                        <a:lstStyle/>
                        <a:p>
                          <a:pPr algn="ctr"/>
                          <a:r>
                            <a:rPr lang="en-IN" dirty="0"/>
                            <a:t>Plans, acts, verifies, and delivers.</a:t>
                          </a:r>
                        </a:p>
                      </p:txBody>
                    </p:sp>
                    <p:sp>
                      <p:nvSpPr>
                        <p:cNvPr id="45" name="TextBox 44">
                          <a:extLst>
                            <a:ext uri="{FF2B5EF4-FFF2-40B4-BE49-F238E27FC236}">
                              <a16:creationId xmlns:a16="http://schemas.microsoft.com/office/drawing/2014/main" id="{C90CC349-AEA6-3F7A-6F50-C1EEF10202D0}"/>
                            </a:ext>
                          </a:extLst>
                        </p:cNvPr>
                        <p:cNvSpPr txBox="1"/>
                        <p:nvPr/>
                      </p:nvSpPr>
                      <p:spPr>
                        <a:xfrm>
                          <a:off x="6458913" y="1556409"/>
                          <a:ext cx="499371" cy="523220"/>
                        </a:xfrm>
                        <a:prstGeom prst="rect">
                          <a:avLst/>
                        </a:prstGeom>
                        <a:noFill/>
                      </p:spPr>
                      <p:txBody>
                        <a:bodyPr wrap="square">
                          <a:spAutoFit/>
                        </a:bodyPr>
                        <a:lstStyle/>
                        <a:p>
                          <a:r>
                            <a:rPr lang="en-IN" sz="2800" dirty="0"/>
                            <a:t>🔐 </a:t>
                          </a:r>
                        </a:p>
                      </p:txBody>
                    </p:sp>
                    <p:sp>
                      <p:nvSpPr>
                        <p:cNvPr id="49" name="TextBox 48">
                          <a:extLst>
                            <a:ext uri="{FF2B5EF4-FFF2-40B4-BE49-F238E27FC236}">
                              <a16:creationId xmlns:a16="http://schemas.microsoft.com/office/drawing/2014/main" id="{EAC82908-9074-C617-BF9D-BBF9EED61D75}"/>
                            </a:ext>
                          </a:extLst>
                        </p:cNvPr>
                        <p:cNvSpPr txBox="1"/>
                        <p:nvPr/>
                      </p:nvSpPr>
                      <p:spPr>
                        <a:xfrm>
                          <a:off x="5021060" y="4045104"/>
                          <a:ext cx="1931583" cy="646331"/>
                        </a:xfrm>
                        <a:prstGeom prst="rect">
                          <a:avLst/>
                        </a:prstGeom>
                        <a:noFill/>
                      </p:spPr>
                      <p:txBody>
                        <a:bodyPr wrap="square">
                          <a:spAutoFit/>
                        </a:bodyPr>
                        <a:lstStyle/>
                        <a:p>
                          <a:r>
                            <a:rPr lang="en-IN" b="1" dirty="0"/>
                            <a:t>Private RAG + Multi-Model AI</a:t>
                          </a:r>
                        </a:p>
                      </p:txBody>
                    </p:sp>
                    <p:sp>
                      <p:nvSpPr>
                        <p:cNvPr id="53" name="TextBox 52">
                          <a:extLst>
                            <a:ext uri="{FF2B5EF4-FFF2-40B4-BE49-F238E27FC236}">
                              <a16:creationId xmlns:a16="http://schemas.microsoft.com/office/drawing/2014/main" id="{A9BC8D77-ECBD-163D-1916-9BB5B79D2B8C}"/>
                            </a:ext>
                          </a:extLst>
                        </p:cNvPr>
                        <p:cNvSpPr txBox="1"/>
                        <p:nvPr/>
                      </p:nvSpPr>
                      <p:spPr>
                        <a:xfrm>
                          <a:off x="7307405" y="3998251"/>
                          <a:ext cx="587470" cy="523220"/>
                        </a:xfrm>
                        <a:prstGeom prst="rect">
                          <a:avLst/>
                        </a:prstGeom>
                        <a:noFill/>
                      </p:spPr>
                      <p:txBody>
                        <a:bodyPr wrap="square">
                          <a:spAutoFit/>
                        </a:bodyPr>
                        <a:lstStyle/>
                        <a:p>
                          <a:r>
                            <a:rPr lang="en-IN" sz="2800" dirty="0"/>
                            <a:t>👁️</a:t>
                          </a:r>
                        </a:p>
                      </p:txBody>
                    </p:sp>
                    <p:sp>
                      <p:nvSpPr>
                        <p:cNvPr id="55" name="TextBox 54">
                          <a:extLst>
                            <a:ext uri="{FF2B5EF4-FFF2-40B4-BE49-F238E27FC236}">
                              <a16:creationId xmlns:a16="http://schemas.microsoft.com/office/drawing/2014/main" id="{725EE6BA-C607-F469-981D-89B8406E0BC6}"/>
                            </a:ext>
                          </a:extLst>
                        </p:cNvPr>
                        <p:cNvSpPr txBox="1"/>
                        <p:nvPr/>
                      </p:nvSpPr>
                      <p:spPr>
                        <a:xfrm>
                          <a:off x="5462916" y="1912075"/>
                          <a:ext cx="1649559" cy="726641"/>
                        </a:xfrm>
                        <a:prstGeom prst="rect">
                          <a:avLst/>
                        </a:prstGeom>
                        <a:noFill/>
                      </p:spPr>
                      <p:txBody>
                        <a:bodyPr wrap="square">
                          <a:spAutoFit/>
                        </a:bodyPr>
                        <a:lstStyle/>
                        <a:p>
                          <a:pPr algn="ctr"/>
                          <a:r>
                            <a:rPr lang="en-IN" b="1" dirty="0"/>
                            <a:t>On-Premise &amp; </a:t>
                          </a:r>
                        </a:p>
                        <a:p>
                          <a:pPr algn="ctr"/>
                          <a:r>
                            <a:rPr lang="en-IN" b="1" dirty="0"/>
                            <a:t>Air-Gapped</a:t>
                          </a:r>
                          <a:r>
                            <a:rPr lang="en-IN" dirty="0"/>
                            <a:t>  </a:t>
                          </a:r>
                        </a:p>
                      </p:txBody>
                    </p:sp>
                    <p:sp>
                      <p:nvSpPr>
                        <p:cNvPr id="57" name="TextBox 56">
                          <a:extLst>
                            <a:ext uri="{FF2B5EF4-FFF2-40B4-BE49-F238E27FC236}">
                              <a16:creationId xmlns:a16="http://schemas.microsoft.com/office/drawing/2014/main" id="{F095D462-6CA5-304D-9B88-70D202B39227}"/>
                            </a:ext>
                          </a:extLst>
                        </p:cNvPr>
                        <p:cNvSpPr txBox="1"/>
                        <p:nvPr/>
                      </p:nvSpPr>
                      <p:spPr>
                        <a:xfrm>
                          <a:off x="7856857" y="3985902"/>
                          <a:ext cx="2019857" cy="646331"/>
                        </a:xfrm>
                        <a:prstGeom prst="rect">
                          <a:avLst/>
                        </a:prstGeom>
                        <a:noFill/>
                      </p:spPr>
                      <p:txBody>
                        <a:bodyPr wrap="square">
                          <a:spAutoFit/>
                        </a:bodyPr>
                        <a:lstStyle/>
                        <a:p>
                          <a:r>
                            <a:rPr lang="en-IN" b="1" dirty="0"/>
                            <a:t>Multimodal Intelligence</a:t>
                          </a:r>
                        </a:p>
                      </p:txBody>
                    </p:sp>
                  </p:grpSp>
                </p:grpSp>
                <p:sp>
                  <p:nvSpPr>
                    <p:cNvPr id="59" name="TextBox 58">
                      <a:extLst>
                        <a:ext uri="{FF2B5EF4-FFF2-40B4-BE49-F238E27FC236}">
                          <a16:creationId xmlns:a16="http://schemas.microsoft.com/office/drawing/2014/main" id="{5D4383F1-49EE-EFFE-07FD-9F2F11221C08}"/>
                        </a:ext>
                      </a:extLst>
                    </p:cNvPr>
                    <p:cNvSpPr txBox="1"/>
                    <p:nvPr/>
                  </p:nvSpPr>
                  <p:spPr>
                    <a:xfrm>
                      <a:off x="7236891" y="4616865"/>
                      <a:ext cx="2019857" cy="923330"/>
                    </a:xfrm>
                    <a:prstGeom prst="rect">
                      <a:avLst/>
                    </a:prstGeom>
                    <a:noFill/>
                  </p:spPr>
                  <p:txBody>
                    <a:bodyPr wrap="square">
                      <a:spAutoFit/>
                    </a:bodyPr>
                    <a:lstStyle/>
                    <a:p>
                      <a:pPr algn="ctr"/>
                      <a:r>
                        <a:rPr lang="en-IN" dirty="0"/>
                        <a:t>Handles PDFs, scans, images &amp; drawings.</a:t>
                      </a:r>
                    </a:p>
                  </p:txBody>
                </p:sp>
              </p:grpSp>
            </p:grpSp>
          </p:grpSp>
          <p:sp>
            <p:nvSpPr>
              <p:cNvPr id="15368" name="TextBox 15367">
                <a:extLst>
                  <a:ext uri="{FF2B5EF4-FFF2-40B4-BE49-F238E27FC236}">
                    <a16:creationId xmlns:a16="http://schemas.microsoft.com/office/drawing/2014/main" id="{D41B5A85-C6A7-B0B4-735C-122173D9F407}"/>
                  </a:ext>
                </a:extLst>
              </p:cNvPr>
              <p:cNvSpPr txBox="1"/>
              <p:nvPr/>
            </p:nvSpPr>
            <p:spPr>
              <a:xfrm>
                <a:off x="5337960" y="4669700"/>
                <a:ext cx="1473795" cy="923330"/>
              </a:xfrm>
              <a:prstGeom prst="rect">
                <a:avLst/>
              </a:prstGeom>
              <a:noFill/>
            </p:spPr>
            <p:txBody>
              <a:bodyPr wrap="square">
                <a:spAutoFit/>
              </a:bodyPr>
              <a:lstStyle/>
              <a:p>
                <a:pPr algn="ctr"/>
                <a:r>
                  <a:rPr lang="en-IN" dirty="0"/>
                  <a:t>Right model for every task.</a:t>
                </a:r>
              </a:p>
            </p:txBody>
          </p:sp>
        </p:grpSp>
        <p:sp>
          <p:nvSpPr>
            <p:cNvPr id="15371" name="TextBox 15370">
              <a:extLst>
                <a:ext uri="{FF2B5EF4-FFF2-40B4-BE49-F238E27FC236}">
                  <a16:creationId xmlns:a16="http://schemas.microsoft.com/office/drawing/2014/main" id="{26C55C56-E750-7AB7-D5AF-0B2E2560BDAD}"/>
                </a:ext>
              </a:extLst>
            </p:cNvPr>
            <p:cNvSpPr txBox="1"/>
            <p:nvPr/>
          </p:nvSpPr>
          <p:spPr>
            <a:xfrm>
              <a:off x="6274351" y="4279664"/>
              <a:ext cx="546100" cy="523220"/>
            </a:xfrm>
            <a:prstGeom prst="rect">
              <a:avLst/>
            </a:prstGeom>
            <a:noFill/>
          </p:spPr>
          <p:txBody>
            <a:bodyPr wrap="square">
              <a:spAutoFit/>
            </a:bodyPr>
            <a:lstStyle/>
            <a:p>
              <a:r>
                <a:rPr lang="en-IN" sz="2800" dirty="0"/>
                <a:t>🧠</a:t>
              </a:r>
            </a:p>
          </p:txBody>
        </p:sp>
      </p:grpSp>
      <p:sp>
        <p:nvSpPr>
          <p:cNvPr id="15374" name="TextBox 15373">
            <a:extLst>
              <a:ext uri="{FF2B5EF4-FFF2-40B4-BE49-F238E27FC236}">
                <a16:creationId xmlns:a16="http://schemas.microsoft.com/office/drawing/2014/main" id="{71244961-A0C3-2C36-7A01-4E825922E79E}"/>
              </a:ext>
            </a:extLst>
          </p:cNvPr>
          <p:cNvSpPr txBox="1"/>
          <p:nvPr/>
        </p:nvSpPr>
        <p:spPr>
          <a:xfrm>
            <a:off x="323690" y="1774826"/>
            <a:ext cx="3643158" cy="4493538"/>
          </a:xfrm>
          <a:prstGeom prst="rect">
            <a:avLst/>
          </a:prstGeom>
          <a:noFill/>
        </p:spPr>
        <p:txBody>
          <a:bodyPr wrap="square">
            <a:spAutoFit/>
          </a:bodyPr>
          <a:lstStyle/>
          <a:p>
            <a:pPr algn="ctr"/>
            <a:r>
              <a:rPr lang="en-IN" sz="2200" dirty="0"/>
              <a:t>Refineries, PSUs, Defence units, and Government offices handle highly confidential documents and knowledge work and Cloud AI tools cannot be used because sensitive nature of the data Manual processing is Slow and inefficient, and existing ai solutions lacks deployable multi-model, agentic, multimodal, fully local workbench.</a:t>
            </a:r>
          </a:p>
        </p:txBody>
      </p:sp>
      <p:sp>
        <p:nvSpPr>
          <p:cNvPr id="15376" name="TextBox 15375">
            <a:extLst>
              <a:ext uri="{FF2B5EF4-FFF2-40B4-BE49-F238E27FC236}">
                <a16:creationId xmlns:a16="http://schemas.microsoft.com/office/drawing/2014/main" id="{64454521-2599-461D-3690-D518F3BEC670}"/>
              </a:ext>
            </a:extLst>
          </p:cNvPr>
          <p:cNvSpPr txBox="1"/>
          <p:nvPr/>
        </p:nvSpPr>
        <p:spPr>
          <a:xfrm>
            <a:off x="1180055" y="1018056"/>
            <a:ext cx="1817145" cy="646331"/>
          </a:xfrm>
          <a:prstGeom prst="rect">
            <a:avLst/>
          </a:prstGeom>
          <a:noFill/>
        </p:spPr>
        <p:txBody>
          <a:bodyPr wrap="square">
            <a:spAutoFit/>
          </a:bodyPr>
          <a:lstStyle/>
          <a:p>
            <a:pPr algn="ctr"/>
            <a:r>
              <a:rPr lang="en-IN" sz="3600" b="1" dirty="0"/>
              <a:t>Problem</a:t>
            </a:r>
            <a:endParaRPr lang="en-IN" b="1" dirty="0"/>
          </a:p>
        </p:txBody>
      </p:sp>
      <p:sp>
        <p:nvSpPr>
          <p:cNvPr id="15378" name="Google Shape;283;p15">
            <a:extLst>
              <a:ext uri="{FF2B5EF4-FFF2-40B4-BE49-F238E27FC236}">
                <a16:creationId xmlns:a16="http://schemas.microsoft.com/office/drawing/2014/main" id="{D5236E7A-9A1B-DE9B-23C8-6230C119E0F4}"/>
              </a:ext>
            </a:extLst>
          </p:cNvPr>
          <p:cNvSpPr/>
          <p:nvPr/>
        </p:nvSpPr>
        <p:spPr>
          <a:xfrm rot="10800000">
            <a:off x="4531347" y="4605931"/>
            <a:ext cx="5013176" cy="2252067"/>
          </a:xfrm>
          <a:custGeom>
            <a:avLst/>
            <a:gdLst/>
            <a:ahLst/>
            <a:cxnLst/>
            <a:rect l="l" t="t" r="r" b="b"/>
            <a:pathLst>
              <a:path w="1454794" h="737977" extrusionOk="0">
                <a:moveTo>
                  <a:pt x="0" y="0"/>
                </a:moveTo>
                <a:lnTo>
                  <a:pt x="1454793" y="0"/>
                </a:lnTo>
                <a:lnTo>
                  <a:pt x="1454793" y="737977"/>
                </a:lnTo>
                <a:lnTo>
                  <a:pt x="0" y="737977"/>
                </a:lnTo>
                <a:lnTo>
                  <a:pt x="0" y="0"/>
                </a:lnTo>
                <a:close/>
              </a:path>
            </a:pathLst>
          </a:custGeom>
          <a:blipFill rotWithShape="1">
            <a:blip r:embed="rId7">
              <a:alphaModFix/>
            </a:blip>
            <a:stretch>
              <a:fillRect/>
            </a:stretch>
          </a:blipFill>
          <a:ln>
            <a:noFill/>
          </a:ln>
        </p:spPr>
        <p:txBody>
          <a:bodyPr/>
          <a:lstStyle/>
          <a:p>
            <a:endParaRPr lang="en-IN" dirty="0"/>
          </a:p>
        </p:txBody>
      </p:sp>
      <p:sp>
        <p:nvSpPr>
          <p:cNvPr id="15380" name="TextBox 15379">
            <a:extLst>
              <a:ext uri="{FF2B5EF4-FFF2-40B4-BE49-F238E27FC236}">
                <a16:creationId xmlns:a16="http://schemas.microsoft.com/office/drawing/2014/main" id="{20E63339-5586-6674-C46C-6ACA6FCA09FD}"/>
              </a:ext>
            </a:extLst>
          </p:cNvPr>
          <p:cNvSpPr txBox="1"/>
          <p:nvPr/>
        </p:nvSpPr>
        <p:spPr>
          <a:xfrm>
            <a:off x="4866130" y="5753871"/>
            <a:ext cx="4615724" cy="1077218"/>
          </a:xfrm>
          <a:prstGeom prst="rect">
            <a:avLst/>
          </a:prstGeom>
          <a:noFill/>
        </p:spPr>
        <p:txBody>
          <a:bodyPr wrap="square">
            <a:spAutoFit/>
          </a:bodyPr>
          <a:lstStyle/>
          <a:p>
            <a:pPr algn="ctr"/>
            <a:r>
              <a:rPr lang="en-IN" sz="1600" dirty="0"/>
              <a:t>Rather than a basic chatbot, its agentic workflow uses local tools and RAG to execute tasks, run code in sandboxes, and export verified Office deliverables without the possibility of data leaks</a:t>
            </a:r>
          </a:p>
        </p:txBody>
      </p:sp>
      <p:sp>
        <p:nvSpPr>
          <p:cNvPr id="15382" name="TextBox 15381">
            <a:extLst>
              <a:ext uri="{FF2B5EF4-FFF2-40B4-BE49-F238E27FC236}">
                <a16:creationId xmlns:a16="http://schemas.microsoft.com/office/drawing/2014/main" id="{4977F403-63B7-34E4-62F3-5BE9E49353DC}"/>
              </a:ext>
            </a:extLst>
          </p:cNvPr>
          <p:cNvSpPr txBox="1"/>
          <p:nvPr/>
        </p:nvSpPr>
        <p:spPr>
          <a:xfrm>
            <a:off x="5149295" y="4990622"/>
            <a:ext cx="3838828" cy="707886"/>
          </a:xfrm>
          <a:prstGeom prst="rect">
            <a:avLst/>
          </a:prstGeom>
          <a:noFill/>
        </p:spPr>
        <p:txBody>
          <a:bodyPr wrap="square">
            <a:spAutoFit/>
          </a:bodyPr>
          <a:lstStyle/>
          <a:p>
            <a:pPr algn="ctr"/>
            <a:r>
              <a:rPr lang="en-IN" sz="2000" b="1" dirty="0">
                <a:latin typeface="Google Sans Flex"/>
              </a:rPr>
              <a:t>H</a:t>
            </a:r>
            <a:r>
              <a:rPr lang="en-IN" sz="2000" b="1" i="0" dirty="0">
                <a:effectLst/>
                <a:latin typeface="Google Sans Flex"/>
              </a:rPr>
              <a:t>ow it addresses the problem statement</a:t>
            </a:r>
            <a:endParaRPr lang="en-IN" sz="2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5D480553-0870-5EF0-9FB4-E943455321A1}"/>
              </a:ext>
            </a:extLst>
          </p:cNvPr>
          <p:cNvSpPr/>
          <p:nvPr/>
        </p:nvSpPr>
        <p:spPr>
          <a:xfrm>
            <a:off x="7557289" y="990363"/>
            <a:ext cx="4607557" cy="51017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Oval 2" descr="Your startup LOGO">
            <a:extLst>
              <a:ext uri="{FF2B5EF4-FFF2-40B4-BE49-F238E27FC236}">
                <a16:creationId xmlns:a16="http://schemas.microsoft.com/office/drawing/2014/main" id="{3C9EA117-E7A8-9F3F-E01A-06D0317B538B}"/>
              </a:ext>
              <a:ext uri="{C183D7F6-B498-43B3-948B-1728B52AA6E4}">
                <adec:decorative xmlns:adec="http://schemas.microsoft.com/office/drawing/2017/decorative" val="0"/>
              </a:ext>
            </a:extLst>
          </p:cNvPr>
          <p:cNvSpPr/>
          <p:nvPr/>
        </p:nvSpPr>
        <p:spPr>
          <a:xfrm>
            <a:off x="162064" y="129001"/>
            <a:ext cx="1439066"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Neoteric</a:t>
            </a:r>
            <a:endParaRPr lang="en-IN" dirty="0"/>
          </a:p>
        </p:txBody>
      </p:sp>
      <p:pic>
        <p:nvPicPr>
          <p:cNvPr id="8" name="Picture 7">
            <a:extLst>
              <a:ext uri="{FF2B5EF4-FFF2-40B4-BE49-F238E27FC236}">
                <a16:creationId xmlns:a16="http://schemas.microsoft.com/office/drawing/2014/main" id="{AB3B8AE7-9D66-A5A3-355B-2BB7E84BDBE0}"/>
              </a:ext>
            </a:extLst>
          </p:cNvPr>
          <p:cNvPicPr>
            <a:picLocks noChangeAspect="1"/>
          </p:cNvPicPr>
          <p:nvPr/>
        </p:nvPicPr>
        <p:blipFill>
          <a:blip r:embed="rId4"/>
          <a:srcRect l="1353" t="9147" b="-1045"/>
          <a:stretch>
            <a:fillRect/>
          </a:stretch>
        </p:blipFill>
        <p:spPr>
          <a:xfrm>
            <a:off x="0" y="936335"/>
            <a:ext cx="7335918" cy="5921665"/>
          </a:xfrm>
          <a:prstGeom prst="rect">
            <a:avLst/>
          </a:prstGeom>
        </p:spPr>
      </p:pic>
      <p:sp>
        <p:nvSpPr>
          <p:cNvPr id="11" name="TextBox 10">
            <a:extLst>
              <a:ext uri="{FF2B5EF4-FFF2-40B4-BE49-F238E27FC236}">
                <a16:creationId xmlns:a16="http://schemas.microsoft.com/office/drawing/2014/main" id="{2732FFA7-6B19-1676-9F7C-BEA5B817E0EC}"/>
              </a:ext>
            </a:extLst>
          </p:cNvPr>
          <p:cNvSpPr txBox="1"/>
          <p:nvPr/>
        </p:nvSpPr>
        <p:spPr>
          <a:xfrm>
            <a:off x="8157029" y="1037173"/>
            <a:ext cx="3204000" cy="369332"/>
          </a:xfrm>
          <a:prstGeom prst="rect">
            <a:avLst/>
          </a:prstGeom>
          <a:noFill/>
        </p:spPr>
        <p:txBody>
          <a:bodyPr wrap="square">
            <a:spAutoFit/>
          </a:bodyPr>
          <a:lstStyle/>
          <a:p>
            <a:pPr algn="ctr"/>
            <a:r>
              <a:rPr lang="en-IN" dirty="0"/>
              <a:t>Local Model Serving &amp; Inference</a:t>
            </a:r>
          </a:p>
        </p:txBody>
      </p:sp>
      <p:sp>
        <p:nvSpPr>
          <p:cNvPr id="14" name="TextBox 13">
            <a:extLst>
              <a:ext uri="{FF2B5EF4-FFF2-40B4-BE49-F238E27FC236}">
                <a16:creationId xmlns:a16="http://schemas.microsoft.com/office/drawing/2014/main" id="{4F91182A-D6E5-0D7F-B6BC-15F4958A05E3}"/>
              </a:ext>
            </a:extLst>
          </p:cNvPr>
          <p:cNvSpPr txBox="1"/>
          <p:nvPr/>
        </p:nvSpPr>
        <p:spPr>
          <a:xfrm>
            <a:off x="7730549" y="1316764"/>
            <a:ext cx="4461451" cy="5078313"/>
          </a:xfrm>
          <a:prstGeom prst="rect">
            <a:avLst/>
          </a:prstGeom>
          <a:noFill/>
        </p:spPr>
        <p:txBody>
          <a:bodyPr wrap="square">
            <a:spAutoFit/>
          </a:bodyPr>
          <a:lstStyle/>
          <a:p>
            <a:r>
              <a:rPr lang="en-IN" dirty="0"/>
              <a:t>Open-weight Model Registry:</a:t>
            </a:r>
            <a:br>
              <a:rPr lang="en-IN" dirty="0"/>
            </a:br>
            <a:br>
              <a:rPr lang="en-IN" dirty="0"/>
            </a:br>
            <a:r>
              <a:rPr lang="en-IN" dirty="0"/>
              <a:t>Qwen3-14B — Q4_K_M GGUF Main agent, reasoning, planning, document analysis, RAG synthesis. </a:t>
            </a:r>
          </a:p>
          <a:p>
            <a:endParaRPr lang="en-IN" dirty="0"/>
          </a:p>
          <a:p>
            <a:r>
              <a:rPr lang="en-IN" dirty="0"/>
              <a:t>Qwen2.5-Coder-7B-Instruct — Q4_K_M GGUF Coding agent, Python generation, debugging, data analysis.</a:t>
            </a:r>
          </a:p>
          <a:p>
            <a:endParaRPr lang="en-IN" dirty="0"/>
          </a:p>
          <a:p>
            <a:r>
              <a:rPr lang="en-IN" dirty="0"/>
              <a:t> Qwen3-VL-8B-Instruct — Q4_K_M GGUF Vision, scanned documents, images, P&amp;IDs, engineering drawings.</a:t>
            </a:r>
          </a:p>
          <a:p>
            <a:endParaRPr lang="en-IN" dirty="0"/>
          </a:p>
          <a:p>
            <a:r>
              <a:rPr lang="en-IN" dirty="0"/>
              <a:t>mmproj-Qwen3VL-8B-Instruct-F16.gguf Qwen3-Embedding-0.6B Local embeddings for the RAG system. Qwen3-Reranker-0.6B</a:t>
            </a:r>
            <a:br>
              <a:rPr lang="en-IN" dirty="0"/>
            </a:br>
            <a:endParaRPr lang="en-IN" dirty="0"/>
          </a:p>
        </p:txBody>
      </p:sp>
      <p:sp>
        <p:nvSpPr>
          <p:cNvPr id="16" name="TextBox 15">
            <a:extLst>
              <a:ext uri="{FF2B5EF4-FFF2-40B4-BE49-F238E27FC236}">
                <a16:creationId xmlns:a16="http://schemas.microsoft.com/office/drawing/2014/main" id="{58746EF9-6565-DBF8-D930-8ACF4518B6EB}"/>
              </a:ext>
            </a:extLst>
          </p:cNvPr>
          <p:cNvSpPr txBox="1"/>
          <p:nvPr/>
        </p:nvSpPr>
        <p:spPr>
          <a:xfrm>
            <a:off x="7509251" y="6075147"/>
            <a:ext cx="1744766" cy="646331"/>
          </a:xfrm>
          <a:prstGeom prst="rect">
            <a:avLst/>
          </a:prstGeom>
          <a:noFill/>
        </p:spPr>
        <p:txBody>
          <a:bodyPr wrap="square">
            <a:spAutoFit/>
          </a:bodyPr>
          <a:lstStyle/>
          <a:p>
            <a:pPr algn="ctr">
              <a:buNone/>
            </a:pPr>
            <a:r>
              <a:rPr lang="en-IN" b="1" dirty="0"/>
              <a:t>Backend API</a:t>
            </a:r>
            <a:endParaRPr lang="en-IN" dirty="0"/>
          </a:p>
          <a:p>
            <a:pPr lvl="0" algn="ctr"/>
            <a:r>
              <a:rPr lang="en-IN" dirty="0"/>
              <a:t>Python </a:t>
            </a:r>
            <a:r>
              <a:rPr lang="en-IN" dirty="0" err="1"/>
              <a:t>FastAPI</a:t>
            </a:r>
            <a:endParaRPr lang="en-IN" dirty="0"/>
          </a:p>
        </p:txBody>
      </p:sp>
      <p:sp>
        <p:nvSpPr>
          <p:cNvPr id="18" name="TextBox 17">
            <a:extLst>
              <a:ext uri="{FF2B5EF4-FFF2-40B4-BE49-F238E27FC236}">
                <a16:creationId xmlns:a16="http://schemas.microsoft.com/office/drawing/2014/main" id="{C6A2A9D8-E66C-7461-088B-2FFA7CB34960}"/>
              </a:ext>
            </a:extLst>
          </p:cNvPr>
          <p:cNvSpPr txBox="1"/>
          <p:nvPr/>
        </p:nvSpPr>
        <p:spPr>
          <a:xfrm>
            <a:off x="9080757" y="6092091"/>
            <a:ext cx="3284503" cy="646331"/>
          </a:xfrm>
          <a:prstGeom prst="rect">
            <a:avLst/>
          </a:prstGeom>
          <a:noFill/>
        </p:spPr>
        <p:txBody>
          <a:bodyPr wrap="square">
            <a:spAutoFit/>
          </a:bodyPr>
          <a:lstStyle/>
          <a:p>
            <a:pPr>
              <a:buNone/>
            </a:pPr>
            <a:r>
              <a:rPr lang="en-IN" b="1" dirty="0"/>
              <a:t>OCR &amp; Computer Vision</a:t>
            </a:r>
            <a:endParaRPr lang="en-IN" dirty="0"/>
          </a:p>
          <a:p>
            <a:pPr lvl="0"/>
            <a:r>
              <a:rPr lang="en-IN" dirty="0" err="1"/>
              <a:t>PaddleOCR</a:t>
            </a:r>
            <a:r>
              <a:rPr lang="en-IN" dirty="0"/>
              <a:t> / Tesseract  OpenCV</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7A0EAD4-29BF-F197-D835-DFF5C0E979DC}"/>
              </a:ext>
            </a:extLst>
          </p:cNvPr>
          <p:cNvSpPr/>
          <p:nvPr/>
        </p:nvSpPr>
        <p:spPr>
          <a:xfrm>
            <a:off x="5794857" y="1063837"/>
            <a:ext cx="6235080" cy="5657641"/>
          </a:xfrm>
          <a:prstGeom prst="rect">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25" name="Rectangle: Rounded Corners 24">
            <a:extLst>
              <a:ext uri="{FF2B5EF4-FFF2-40B4-BE49-F238E27FC236}">
                <a16:creationId xmlns:a16="http://schemas.microsoft.com/office/drawing/2014/main" id="{E02C6B10-0BB1-67FE-14C7-0A02D0EB45B8}"/>
              </a:ext>
            </a:extLst>
          </p:cNvPr>
          <p:cNvSpPr/>
          <p:nvPr/>
        </p:nvSpPr>
        <p:spPr>
          <a:xfrm>
            <a:off x="6096000" y="3948921"/>
            <a:ext cx="5758857" cy="2626050"/>
          </a:xfrm>
          <a:prstGeom prst="roundRect">
            <a:avLst/>
          </a:prstGeom>
          <a:solidFill>
            <a:schemeClr val="accent4">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68B48C4C-0102-EC43-B7B6-6288BB38F82C}"/>
              </a:ext>
            </a:extLst>
          </p:cNvPr>
          <p:cNvSpPr/>
          <p:nvPr/>
        </p:nvSpPr>
        <p:spPr>
          <a:xfrm>
            <a:off x="6022520" y="1341648"/>
            <a:ext cx="5832337" cy="2515584"/>
          </a:xfrm>
          <a:prstGeom prst="roundRect">
            <a:avLst/>
          </a:prstGeom>
          <a:solidFill>
            <a:schemeClr val="accent5">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7340023" y="1394830"/>
            <a:ext cx="4795171" cy="400110"/>
          </a:xfrm>
          <a:prstGeom prst="rect">
            <a:avLst/>
          </a:prstGeom>
          <a:noFill/>
          <a:ln w="9525">
            <a:noFill/>
            <a:miter lim="800000"/>
            <a:headEnd/>
            <a:tailEnd/>
          </a:ln>
        </p:spPr>
        <p:txBody>
          <a:bodyPr wrap="square">
            <a:spAutoFit/>
          </a:bodyPr>
          <a:lstStyle/>
          <a:p>
            <a:pPr marR="0" lvl="0" algn="just" defTabSz="457200" rtl="0" eaLnBrk="1" fontAlgn="base" latinLnBrk="0" hangingPunct="1">
              <a:lnSpc>
                <a:spcPct val="100000"/>
              </a:lnSpc>
              <a:spcBef>
                <a:spcPct val="0"/>
              </a:spcBef>
              <a:spcAft>
                <a:spcPct val="0"/>
              </a:spcAft>
              <a:buClrTx/>
              <a:buSzTx/>
              <a:tabLst/>
              <a:defRPr/>
            </a:pPr>
            <a:r>
              <a:rPr lang="en-US" sz="2000" dirty="0">
                <a:solidFill>
                  <a:prstClr val="black"/>
                </a:solidFill>
                <a:latin typeface="Arial" pitchFamily="34" charset="0"/>
                <a:cs typeface="Arial" pitchFamily="34" charset="0"/>
              </a:rPr>
              <a:t>Potential challenges and risk</a:t>
            </a:r>
            <a:endParaRPr kumimoji="0" lang="en-US" sz="20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Oval 2" descr="Your startup LOGO">
            <a:extLst>
              <a:ext uri="{FF2B5EF4-FFF2-40B4-BE49-F238E27FC236}">
                <a16:creationId xmlns:a16="http://schemas.microsoft.com/office/drawing/2014/main" id="{1AD5C5C2-D952-7F25-0C5F-87A55A2BCB1D}"/>
              </a:ext>
              <a:ext uri="{C183D7F6-B498-43B3-948B-1728B52AA6E4}">
                <adec:decorative xmlns:adec="http://schemas.microsoft.com/office/drawing/2017/decorative" val="0"/>
              </a:ext>
            </a:extLst>
          </p:cNvPr>
          <p:cNvSpPr/>
          <p:nvPr/>
        </p:nvSpPr>
        <p:spPr>
          <a:xfrm>
            <a:off x="162064" y="129001"/>
            <a:ext cx="1439066"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Neoteric</a:t>
            </a:r>
            <a:endParaRPr lang="en-IN" dirty="0"/>
          </a:p>
        </p:txBody>
      </p:sp>
      <p:sp>
        <p:nvSpPr>
          <p:cNvPr id="5" name="Flowchart: Preparation 4">
            <a:extLst>
              <a:ext uri="{FF2B5EF4-FFF2-40B4-BE49-F238E27FC236}">
                <a16:creationId xmlns:a16="http://schemas.microsoft.com/office/drawing/2014/main" id="{F521D0A5-29A2-CB06-2D27-AA22A7DEC4CB}"/>
              </a:ext>
            </a:extLst>
          </p:cNvPr>
          <p:cNvSpPr/>
          <p:nvPr/>
        </p:nvSpPr>
        <p:spPr>
          <a:xfrm>
            <a:off x="162064" y="1188959"/>
            <a:ext cx="2438400" cy="1293833"/>
          </a:xfrm>
          <a:prstGeom prst="flowChartPreparati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4A71FE3D-8F50-3080-A0DF-74ADE6735C2A}"/>
              </a:ext>
            </a:extLst>
          </p:cNvPr>
          <p:cNvSpPr txBox="1"/>
          <p:nvPr/>
        </p:nvSpPr>
        <p:spPr>
          <a:xfrm>
            <a:off x="162064" y="1495227"/>
            <a:ext cx="2543657" cy="830997"/>
          </a:xfrm>
          <a:prstGeom prst="rect">
            <a:avLst/>
          </a:prstGeom>
          <a:noFill/>
        </p:spPr>
        <p:txBody>
          <a:bodyPr wrap="square">
            <a:spAutoFit/>
          </a:bodyPr>
          <a:lstStyle/>
          <a:p>
            <a:pPr marR="0" lvl="0" algn="ctr" defTabSz="457200" rtl="0" eaLnBrk="1" fontAlgn="base" latinLnBrk="0" hangingPunct="1">
              <a:lnSpc>
                <a:spcPct val="100000"/>
              </a:lnSpc>
              <a:spcBef>
                <a:spcPct val="0"/>
              </a:spcBef>
              <a:spcAft>
                <a:spcPct val="0"/>
              </a:spcAft>
              <a:buClrTx/>
              <a:buSzTx/>
              <a:tabLst/>
              <a:defRPr/>
            </a:pPr>
            <a:r>
              <a:rPr lang="en-US" sz="2400" dirty="0">
                <a:solidFill>
                  <a:prstClr val="black"/>
                </a:solidFill>
                <a:latin typeface="Arial" pitchFamily="34" charset="0"/>
                <a:cs typeface="Arial" pitchFamily="34" charset="0"/>
              </a:rPr>
              <a:t>Feasibility of Idea</a:t>
            </a:r>
            <a:endParaRPr kumimoji="0" lang="en-US" sz="24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13" name="Rectangle: Rounded Corners 12">
            <a:extLst>
              <a:ext uri="{FF2B5EF4-FFF2-40B4-BE49-F238E27FC236}">
                <a16:creationId xmlns:a16="http://schemas.microsoft.com/office/drawing/2014/main" id="{A165FC4F-5980-AF36-CFF8-1D7C1557D023}"/>
              </a:ext>
            </a:extLst>
          </p:cNvPr>
          <p:cNvSpPr/>
          <p:nvPr/>
        </p:nvSpPr>
        <p:spPr>
          <a:xfrm>
            <a:off x="263663" y="2706992"/>
            <a:ext cx="5006521" cy="170366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5F3498D-6D3F-38CC-8ABB-9B2A008F8B21}"/>
              </a:ext>
            </a:extLst>
          </p:cNvPr>
          <p:cNvSpPr/>
          <p:nvPr/>
        </p:nvSpPr>
        <p:spPr>
          <a:xfrm>
            <a:off x="263663" y="4634859"/>
            <a:ext cx="5425937" cy="179236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5F81DDC7-3FFA-E557-3E8B-8B8CFDC29BE2}"/>
              </a:ext>
            </a:extLst>
          </p:cNvPr>
          <p:cNvSpPr txBox="1"/>
          <p:nvPr/>
        </p:nvSpPr>
        <p:spPr>
          <a:xfrm>
            <a:off x="263662" y="2690621"/>
            <a:ext cx="5006521" cy="2123658"/>
          </a:xfrm>
          <a:prstGeom prst="rect">
            <a:avLst/>
          </a:prstGeom>
          <a:noFill/>
        </p:spPr>
        <p:txBody>
          <a:bodyPr wrap="square">
            <a:spAutoFit/>
          </a:bodyPr>
          <a:lstStyle/>
          <a:p>
            <a:pPr algn="ctr"/>
            <a:r>
              <a:rPr lang="en-IN" sz="2000" b="1" dirty="0"/>
              <a:t>TECHNICAL FEASBILITY</a:t>
            </a:r>
            <a:endParaRPr lang="en-IN" sz="2000" dirty="0"/>
          </a:p>
          <a:p>
            <a:pPr lvl="0"/>
            <a:r>
              <a:rPr lang="en-IN" dirty="0"/>
              <a:t>The technical feasibility relies on running quantized open-weight models, local OCR, and vector search entirely on-premise using a single mid-range GPU, while safely executing code in isolated Docker containers to generate real Office deliverables.</a:t>
            </a:r>
            <a:endParaRPr lang="en-IN" b="1" dirty="0"/>
          </a:p>
          <a:p>
            <a:endParaRPr lang="en-IN" dirty="0"/>
          </a:p>
        </p:txBody>
      </p:sp>
      <p:sp>
        <p:nvSpPr>
          <p:cNvPr id="18" name="TextBox 17">
            <a:extLst>
              <a:ext uri="{FF2B5EF4-FFF2-40B4-BE49-F238E27FC236}">
                <a16:creationId xmlns:a16="http://schemas.microsoft.com/office/drawing/2014/main" id="{3F873BBD-00EA-2E23-A49A-2F4C214ACD71}"/>
              </a:ext>
            </a:extLst>
          </p:cNvPr>
          <p:cNvSpPr txBox="1"/>
          <p:nvPr/>
        </p:nvSpPr>
        <p:spPr>
          <a:xfrm>
            <a:off x="337142" y="4961142"/>
            <a:ext cx="5352458" cy="1477328"/>
          </a:xfrm>
          <a:prstGeom prst="rect">
            <a:avLst/>
          </a:prstGeom>
          <a:noFill/>
        </p:spPr>
        <p:txBody>
          <a:bodyPr wrap="square">
            <a:spAutoFit/>
          </a:bodyPr>
          <a:lstStyle/>
          <a:p>
            <a:r>
              <a:rPr lang="en-IN" dirty="0"/>
              <a:t>The market feasibility is strongly driven by the surging multi-billion dollar demand from defence, PSUs, and heavily regulated industries seeking air-gapped sovereign AI solutions to comply with data residency mandates and avoid public cloud security risks.</a:t>
            </a:r>
          </a:p>
        </p:txBody>
      </p:sp>
      <p:sp>
        <p:nvSpPr>
          <p:cNvPr id="20" name="TextBox 19">
            <a:extLst>
              <a:ext uri="{FF2B5EF4-FFF2-40B4-BE49-F238E27FC236}">
                <a16:creationId xmlns:a16="http://schemas.microsoft.com/office/drawing/2014/main" id="{9FF5C3F8-7EEF-ECFB-0574-7C08611A6D35}"/>
              </a:ext>
            </a:extLst>
          </p:cNvPr>
          <p:cNvSpPr txBox="1"/>
          <p:nvPr/>
        </p:nvSpPr>
        <p:spPr>
          <a:xfrm>
            <a:off x="1601130" y="4628413"/>
            <a:ext cx="3046050" cy="461665"/>
          </a:xfrm>
          <a:prstGeom prst="rect">
            <a:avLst/>
          </a:prstGeom>
          <a:noFill/>
        </p:spPr>
        <p:txBody>
          <a:bodyPr wrap="square">
            <a:spAutoFit/>
          </a:bodyPr>
          <a:lstStyle/>
          <a:p>
            <a:r>
              <a:rPr lang="en-IN" sz="2400" b="1" i="0" dirty="0">
                <a:effectLst/>
                <a:latin typeface="Google Sans Flex"/>
              </a:rPr>
              <a:t>Market feasibility</a:t>
            </a:r>
            <a:endParaRPr lang="en-IN" sz="3600" b="1" dirty="0"/>
          </a:p>
        </p:txBody>
      </p:sp>
      <p:sp>
        <p:nvSpPr>
          <p:cNvPr id="27" name="TextBox 26">
            <a:extLst>
              <a:ext uri="{FF2B5EF4-FFF2-40B4-BE49-F238E27FC236}">
                <a16:creationId xmlns:a16="http://schemas.microsoft.com/office/drawing/2014/main" id="{C57AFEB9-0600-DE01-9796-285ED579328E}"/>
              </a:ext>
            </a:extLst>
          </p:cNvPr>
          <p:cNvSpPr txBox="1"/>
          <p:nvPr/>
        </p:nvSpPr>
        <p:spPr>
          <a:xfrm>
            <a:off x="6435843" y="3981198"/>
            <a:ext cx="6118767" cy="400110"/>
          </a:xfrm>
          <a:prstGeom prst="rect">
            <a:avLst/>
          </a:prstGeom>
          <a:noFill/>
        </p:spPr>
        <p:txBody>
          <a:bodyPr wrap="square">
            <a:spAutoFit/>
          </a:bodyPr>
          <a:lstStyle/>
          <a:p>
            <a:pPr marR="0" lvl="0" algn="just" defTabSz="457200" rtl="0" eaLnBrk="1" fontAlgn="base" latinLnBrk="0" hangingPunct="1">
              <a:lnSpc>
                <a:spcPct val="100000"/>
              </a:lnSpc>
              <a:spcBef>
                <a:spcPct val="0"/>
              </a:spcBef>
              <a:spcAft>
                <a:spcPct val="0"/>
              </a:spcAft>
              <a:buClrTx/>
              <a:buSzTx/>
              <a:tabLst/>
              <a:defRPr/>
            </a:pPr>
            <a:r>
              <a:rPr lang="en-US" sz="2000" dirty="0">
                <a:solidFill>
                  <a:prstClr val="black"/>
                </a:solidFill>
                <a:latin typeface="Arial" pitchFamily="34" charset="0"/>
                <a:cs typeface="Arial" pitchFamily="34" charset="0"/>
              </a:rPr>
              <a:t>Strategy for overcoming these Challenges</a:t>
            </a:r>
            <a:endParaRPr kumimoji="0" lang="en-US" sz="20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31" name="TextBox 30">
            <a:extLst>
              <a:ext uri="{FF2B5EF4-FFF2-40B4-BE49-F238E27FC236}">
                <a16:creationId xmlns:a16="http://schemas.microsoft.com/office/drawing/2014/main" id="{FB6A2029-7FC5-1309-4A0B-D763DFC33301}"/>
              </a:ext>
            </a:extLst>
          </p:cNvPr>
          <p:cNvSpPr txBox="1"/>
          <p:nvPr/>
        </p:nvSpPr>
        <p:spPr>
          <a:xfrm>
            <a:off x="6270171" y="1835875"/>
            <a:ext cx="5575932" cy="1754326"/>
          </a:xfrm>
          <a:prstGeom prst="rect">
            <a:avLst/>
          </a:prstGeom>
          <a:noFill/>
        </p:spPr>
        <p:txBody>
          <a:bodyPr wrap="square">
            <a:spAutoFit/>
          </a:bodyPr>
          <a:lstStyle/>
          <a:p>
            <a:pPr lvl="0"/>
            <a:r>
              <a:rPr lang="en-IN" b="1" dirty="0">
                <a:effectLst/>
                <a:latin typeface="Google Sans Text"/>
              </a:rPr>
              <a:t>VRAM Bottlenecks:</a:t>
            </a:r>
            <a:r>
              <a:rPr lang="en-IN" dirty="0">
                <a:effectLst/>
                <a:latin typeface="Google Sans Text"/>
              </a:rPr>
              <a:t> Concurrent model loading can exceed GPU memory. </a:t>
            </a:r>
          </a:p>
          <a:p>
            <a:pPr lvl="0"/>
            <a:r>
              <a:rPr lang="en-IN" b="1" dirty="0">
                <a:effectLst/>
                <a:latin typeface="Google Sans Text"/>
              </a:rPr>
              <a:t>Accuracy &amp; Hallucinations:</a:t>
            </a:r>
            <a:r>
              <a:rPr lang="en-IN" dirty="0">
                <a:effectLst/>
                <a:latin typeface="Google Sans Text"/>
              </a:rPr>
              <a:t> LLMs may miscalculate or misinterpret technical diagrams. </a:t>
            </a:r>
          </a:p>
          <a:p>
            <a:pPr lvl="0"/>
            <a:r>
              <a:rPr lang="en-IN" b="1" dirty="0">
                <a:effectLst/>
                <a:latin typeface="Google Sans Text"/>
              </a:rPr>
              <a:t>Sandbox Breaches:</a:t>
            </a:r>
            <a:r>
              <a:rPr lang="en-IN" dirty="0">
                <a:effectLst/>
                <a:latin typeface="Google Sans Text"/>
              </a:rPr>
              <a:t> Unsecured code execution risks exposing host filesystems.</a:t>
            </a:r>
          </a:p>
        </p:txBody>
      </p:sp>
      <p:sp>
        <p:nvSpPr>
          <p:cNvPr id="33" name="TextBox 32">
            <a:extLst>
              <a:ext uri="{FF2B5EF4-FFF2-40B4-BE49-F238E27FC236}">
                <a16:creationId xmlns:a16="http://schemas.microsoft.com/office/drawing/2014/main" id="{72B782D6-B261-BABF-E355-A661E077A205}"/>
              </a:ext>
            </a:extLst>
          </p:cNvPr>
          <p:cNvSpPr txBox="1"/>
          <p:nvPr/>
        </p:nvSpPr>
        <p:spPr>
          <a:xfrm>
            <a:off x="6096000" y="4419680"/>
            <a:ext cx="5832337" cy="2031325"/>
          </a:xfrm>
          <a:prstGeom prst="rect">
            <a:avLst/>
          </a:prstGeom>
          <a:noFill/>
        </p:spPr>
        <p:txBody>
          <a:bodyPr wrap="square">
            <a:spAutoFit/>
          </a:bodyPr>
          <a:lstStyle/>
          <a:p>
            <a:pPr lvl="0"/>
            <a:r>
              <a:rPr lang="en-IN" b="1" dirty="0"/>
              <a:t>Sequential VRAM Swapping:</a:t>
            </a:r>
            <a:r>
              <a:rPr lang="en-IN" dirty="0"/>
              <a:t> Load models on-demand and unload inactive ones to stay under GPU memory limits.</a:t>
            </a:r>
          </a:p>
          <a:p>
            <a:pPr lvl="0"/>
            <a:r>
              <a:rPr lang="en-IN" b="1" dirty="0"/>
              <a:t>Deterministic Code Execution:</a:t>
            </a:r>
            <a:r>
              <a:rPr lang="en-IN" dirty="0"/>
              <a:t> Offload math to sandboxed Python scripts and mandate human approval for critical steps.</a:t>
            </a:r>
          </a:p>
          <a:p>
            <a:pPr lvl="0"/>
            <a:r>
              <a:rPr lang="en-IN" b="1" dirty="0"/>
              <a:t>Isolated Docker Sandboxing:</a:t>
            </a:r>
            <a:r>
              <a:rPr lang="en-IN" dirty="0"/>
              <a:t> Run code in non-root containers scoped strictly to single task directories.</a:t>
            </a:r>
          </a:p>
        </p:txBody>
      </p:sp>
      <p:cxnSp>
        <p:nvCxnSpPr>
          <p:cNvPr id="37" name="Straight Arrow Connector 36">
            <a:extLst>
              <a:ext uri="{FF2B5EF4-FFF2-40B4-BE49-F238E27FC236}">
                <a16:creationId xmlns:a16="http://schemas.microsoft.com/office/drawing/2014/main" id="{7D3ADF3F-221B-A2CA-FB9C-422F20530B88}"/>
              </a:ext>
            </a:extLst>
          </p:cNvPr>
          <p:cNvCxnSpPr>
            <a:cxnSpLocks/>
          </p:cNvCxnSpPr>
          <p:nvPr/>
        </p:nvCxnSpPr>
        <p:spPr>
          <a:xfrm>
            <a:off x="5479890" y="1835875"/>
            <a:ext cx="0" cy="28441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B5B707CF-9092-3038-9D54-E798EA623536}"/>
              </a:ext>
            </a:extLst>
          </p:cNvPr>
          <p:cNvCxnSpPr>
            <a:cxnSpLocks/>
          </p:cNvCxnSpPr>
          <p:nvPr/>
        </p:nvCxnSpPr>
        <p:spPr>
          <a:xfrm>
            <a:off x="2600464" y="1835875"/>
            <a:ext cx="287942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A71A6D4C-BE94-FDD4-1AAB-8C2D20C445A9}"/>
              </a:ext>
            </a:extLst>
          </p:cNvPr>
          <p:cNvCxnSpPr>
            <a:stCxn id="5" idx="2"/>
          </p:cNvCxnSpPr>
          <p:nvPr/>
        </p:nvCxnSpPr>
        <p:spPr>
          <a:xfrm>
            <a:off x="1381264" y="2482792"/>
            <a:ext cx="0" cy="2242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7" name="Rectangle 17416">
            <a:extLst>
              <a:ext uri="{FF2B5EF4-FFF2-40B4-BE49-F238E27FC236}">
                <a16:creationId xmlns:a16="http://schemas.microsoft.com/office/drawing/2014/main" id="{4264D74F-E797-A0BB-A5C8-D56EFB24713A}"/>
              </a:ext>
            </a:extLst>
          </p:cNvPr>
          <p:cNvSpPr/>
          <p:nvPr/>
        </p:nvSpPr>
        <p:spPr>
          <a:xfrm>
            <a:off x="8454755" y="3455515"/>
            <a:ext cx="3883896" cy="341590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42" name="Straight Arrow Connector 41">
            <a:extLst>
              <a:ext uri="{FF2B5EF4-FFF2-40B4-BE49-F238E27FC236}">
                <a16:creationId xmlns:a16="http://schemas.microsoft.com/office/drawing/2014/main" id="{3968219C-11BE-5BDA-C8A1-F66BB757EAF9}"/>
              </a:ext>
            </a:extLst>
          </p:cNvPr>
          <p:cNvCxnSpPr>
            <a:cxnSpLocks/>
            <a:stCxn id="23" idx="3"/>
          </p:cNvCxnSpPr>
          <p:nvPr/>
        </p:nvCxnSpPr>
        <p:spPr>
          <a:xfrm>
            <a:off x="1761264" y="6137664"/>
            <a:ext cx="1216597" cy="325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417ACDA3-257C-FDF7-B4D3-B949CD28378F}"/>
              </a:ext>
            </a:extLst>
          </p:cNvPr>
          <p:cNvCxnSpPr/>
          <p:nvPr/>
        </p:nvCxnSpPr>
        <p:spPr>
          <a:xfrm>
            <a:off x="2851025" y="4941607"/>
            <a:ext cx="29276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EE20336A-FBAD-2FB4-5865-1112E1043359}"/>
              </a:ext>
            </a:extLst>
          </p:cNvPr>
          <p:cNvCxnSpPr>
            <a:cxnSpLocks/>
          </p:cNvCxnSpPr>
          <p:nvPr/>
        </p:nvCxnSpPr>
        <p:spPr>
          <a:xfrm flipV="1">
            <a:off x="3874781" y="3739733"/>
            <a:ext cx="298765" cy="196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C0A62007-A481-F98B-542B-626667C7D9FC}"/>
              </a:ext>
            </a:extLst>
          </p:cNvPr>
          <p:cNvSpPr/>
          <p:nvPr/>
        </p:nvSpPr>
        <p:spPr>
          <a:xfrm>
            <a:off x="3001668" y="5882657"/>
            <a:ext cx="5319544" cy="84628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83781972-DFE2-DD22-98E3-C85C14C7B152}"/>
              </a:ext>
            </a:extLst>
          </p:cNvPr>
          <p:cNvSpPr/>
          <p:nvPr/>
        </p:nvSpPr>
        <p:spPr>
          <a:xfrm>
            <a:off x="2977861" y="1937122"/>
            <a:ext cx="5319544" cy="84628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5F301444-6F6F-11B4-F138-5E4E405473F9}"/>
              </a:ext>
            </a:extLst>
          </p:cNvPr>
          <p:cNvSpPr/>
          <p:nvPr/>
        </p:nvSpPr>
        <p:spPr>
          <a:xfrm>
            <a:off x="3081517" y="4804139"/>
            <a:ext cx="5319544" cy="84628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2A65D6F6-CAC6-8294-C609-47C40890C872}"/>
              </a:ext>
            </a:extLst>
          </p:cNvPr>
          <p:cNvSpPr/>
          <p:nvPr/>
        </p:nvSpPr>
        <p:spPr>
          <a:xfrm>
            <a:off x="4173546" y="3121253"/>
            <a:ext cx="3907060" cy="1345938"/>
          </a:xfrm>
          <a:prstGeom prst="roundRect">
            <a:avLst>
              <a:gd name="adj"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A61A5CEC-453B-7227-8315-F8756535C288}"/>
              </a:ext>
            </a:extLst>
          </p:cNvPr>
          <p:cNvSpPr/>
          <p:nvPr/>
        </p:nvSpPr>
        <p:spPr>
          <a:xfrm>
            <a:off x="2977861" y="959904"/>
            <a:ext cx="5319544" cy="84628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17415" name="Straight Connector 17414">
            <a:extLst>
              <a:ext uri="{FF2B5EF4-FFF2-40B4-BE49-F238E27FC236}">
                <a16:creationId xmlns:a16="http://schemas.microsoft.com/office/drawing/2014/main" id="{6C089A12-F768-8F19-966E-36BAB94C1F92}"/>
              </a:ext>
            </a:extLst>
          </p:cNvPr>
          <p:cNvCxnSpPr>
            <a:cxnSpLocks/>
          </p:cNvCxnSpPr>
          <p:nvPr/>
        </p:nvCxnSpPr>
        <p:spPr>
          <a:xfrm>
            <a:off x="575656" y="2083633"/>
            <a:ext cx="0" cy="1131343"/>
          </a:xfrm>
          <a:prstGeom prst="line">
            <a:avLst/>
          </a:prstGeom>
        </p:spPr>
        <p:style>
          <a:lnRef idx="2">
            <a:schemeClr val="accent1"/>
          </a:lnRef>
          <a:fillRef idx="0">
            <a:schemeClr val="accent1"/>
          </a:fillRef>
          <a:effectRef idx="1">
            <a:schemeClr val="accent1"/>
          </a:effectRef>
          <a:fontRef idx="minor">
            <a:schemeClr val="tx1"/>
          </a:fontRef>
        </p:style>
      </p:cxnSp>
      <p:sp>
        <p:nvSpPr>
          <p:cNvPr id="17409" name="Title 1"/>
          <p:cNvSpPr>
            <a:spLocks noGrp="1"/>
          </p:cNvSpPr>
          <p:nvPr>
            <p:ph type="title"/>
          </p:nvPr>
        </p:nvSpPr>
        <p:spPr>
          <a:xfrm>
            <a:off x="582681" y="-284396"/>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Oval 2" descr="Your startup LOGO">
            <a:extLst>
              <a:ext uri="{FF2B5EF4-FFF2-40B4-BE49-F238E27FC236}">
                <a16:creationId xmlns:a16="http://schemas.microsoft.com/office/drawing/2014/main" id="{D135A24F-EF63-5E29-FB16-F52A38CB5294}"/>
              </a:ext>
              <a:ext uri="{C183D7F6-B498-43B3-948B-1728B52AA6E4}">
                <adec:decorative xmlns:adec="http://schemas.microsoft.com/office/drawing/2017/decorative" val="0"/>
              </a:ext>
            </a:extLst>
          </p:cNvPr>
          <p:cNvSpPr/>
          <p:nvPr/>
        </p:nvSpPr>
        <p:spPr>
          <a:xfrm>
            <a:off x="106700" y="23353"/>
            <a:ext cx="1439066"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Neoteric</a:t>
            </a:r>
            <a:endParaRPr lang="en-IN" dirty="0"/>
          </a:p>
        </p:txBody>
      </p:sp>
      <p:grpSp>
        <p:nvGrpSpPr>
          <p:cNvPr id="55" name="Group 54">
            <a:extLst>
              <a:ext uri="{FF2B5EF4-FFF2-40B4-BE49-F238E27FC236}">
                <a16:creationId xmlns:a16="http://schemas.microsoft.com/office/drawing/2014/main" id="{9A543591-0607-12B6-F4BB-B9073CF33259}"/>
              </a:ext>
            </a:extLst>
          </p:cNvPr>
          <p:cNvGrpSpPr/>
          <p:nvPr/>
        </p:nvGrpSpPr>
        <p:grpSpPr>
          <a:xfrm rot="16200000">
            <a:off x="-835990" y="2015704"/>
            <a:ext cx="5546760" cy="3874781"/>
            <a:chOff x="3927463" y="1458108"/>
            <a:chExt cx="6024844" cy="4070871"/>
          </a:xfrm>
        </p:grpSpPr>
        <p:cxnSp>
          <p:nvCxnSpPr>
            <p:cNvPr id="38" name="Straight Connector 37">
              <a:extLst>
                <a:ext uri="{FF2B5EF4-FFF2-40B4-BE49-F238E27FC236}">
                  <a16:creationId xmlns:a16="http://schemas.microsoft.com/office/drawing/2014/main" id="{34E933B9-3F79-F5BB-330D-F4E16160C034}"/>
                </a:ext>
              </a:extLst>
            </p:cNvPr>
            <p:cNvCxnSpPr>
              <a:cxnSpLocks/>
              <a:stCxn id="21" idx="3"/>
            </p:cNvCxnSpPr>
            <p:nvPr/>
          </p:nvCxnSpPr>
          <p:spPr>
            <a:xfrm flipH="1">
              <a:off x="6230714" y="2228641"/>
              <a:ext cx="796630" cy="770531"/>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21DA94D5-8B67-09D1-D09C-8C06B8A1620E}"/>
                </a:ext>
              </a:extLst>
            </p:cNvPr>
            <p:cNvCxnSpPr>
              <a:cxnSpLocks/>
            </p:cNvCxnSpPr>
            <p:nvPr/>
          </p:nvCxnSpPr>
          <p:spPr>
            <a:xfrm>
              <a:off x="7105650" y="3024134"/>
              <a:ext cx="0" cy="855716"/>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82D6F73D-A0AA-D3DC-198D-5B0682B3C02E}"/>
                </a:ext>
              </a:extLst>
            </p:cNvPr>
            <p:cNvCxnSpPr>
              <a:cxnSpLocks/>
              <a:endCxn id="17" idx="0"/>
            </p:cNvCxnSpPr>
            <p:nvPr/>
          </p:nvCxnSpPr>
          <p:spPr>
            <a:xfrm>
              <a:off x="7480353" y="2877322"/>
              <a:ext cx="230546" cy="23748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09333FD8-D6AE-35A7-7219-3CD10BBF5509}"/>
                </a:ext>
              </a:extLst>
            </p:cNvPr>
            <p:cNvCxnSpPr>
              <a:cxnSpLocks/>
              <a:endCxn id="15" idx="3"/>
            </p:cNvCxnSpPr>
            <p:nvPr/>
          </p:nvCxnSpPr>
          <p:spPr>
            <a:xfrm flipH="1" flipV="1">
              <a:off x="5032190" y="2062896"/>
              <a:ext cx="1349191" cy="105364"/>
            </a:xfrm>
            <a:prstGeom prst="line">
              <a:avLst/>
            </a:prstGeom>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6FB59509-0D6E-5968-13DC-0A33DA5363E5}"/>
                </a:ext>
              </a:extLst>
            </p:cNvPr>
            <p:cNvGrpSpPr/>
            <p:nvPr/>
          </p:nvGrpSpPr>
          <p:grpSpPr>
            <a:xfrm>
              <a:off x="3927463" y="1458108"/>
              <a:ext cx="6024844" cy="4070871"/>
              <a:chOff x="3880776" y="1441411"/>
              <a:chExt cx="7135066" cy="5315909"/>
            </a:xfrm>
          </p:grpSpPr>
          <p:sp>
            <p:nvSpPr>
              <p:cNvPr id="4" name="Google Shape;279;p15">
                <a:extLst>
                  <a:ext uri="{FF2B5EF4-FFF2-40B4-BE49-F238E27FC236}">
                    <a16:creationId xmlns:a16="http://schemas.microsoft.com/office/drawing/2014/main" id="{1E05E1EC-F76D-AE48-6AA0-D996686F2783}"/>
                  </a:ext>
                </a:extLst>
              </p:cNvPr>
              <p:cNvSpPr/>
              <p:nvPr/>
            </p:nvSpPr>
            <p:spPr>
              <a:xfrm>
                <a:off x="6611787" y="1447485"/>
                <a:ext cx="1886857" cy="2038906"/>
              </a:xfrm>
              <a:custGeom>
                <a:avLst/>
                <a:gdLst/>
                <a:ahLst/>
                <a:cxnLst/>
                <a:rect l="l" t="t" r="r" b="b"/>
                <a:pathLst>
                  <a:path w="1237298" h="1241814" extrusionOk="0">
                    <a:moveTo>
                      <a:pt x="0" y="0"/>
                    </a:moveTo>
                    <a:lnTo>
                      <a:pt x="1237298" y="0"/>
                    </a:lnTo>
                    <a:lnTo>
                      <a:pt x="1237298" y="1241813"/>
                    </a:lnTo>
                    <a:lnTo>
                      <a:pt x="0" y="1241813"/>
                    </a:lnTo>
                    <a:lnTo>
                      <a:pt x="0" y="0"/>
                    </a:lnTo>
                    <a:close/>
                  </a:path>
                </a:pathLst>
              </a:custGeom>
              <a:blipFill rotWithShape="1">
                <a:blip r:embed="rId4">
                  <a:alphaModFix/>
                </a:blip>
                <a:stretch>
                  <a:fillRect/>
                </a:stretch>
              </a:blipFill>
              <a:ln>
                <a:noFill/>
              </a:ln>
            </p:spPr>
            <p:txBody>
              <a:bodyPr/>
              <a:lstStyle/>
              <a:p>
                <a:endParaRPr lang="en-IN" dirty="0"/>
              </a:p>
            </p:txBody>
          </p:sp>
          <p:sp>
            <p:nvSpPr>
              <p:cNvPr id="5" name="Rectangle: Rounded Corners 4">
                <a:extLst>
                  <a:ext uri="{FF2B5EF4-FFF2-40B4-BE49-F238E27FC236}">
                    <a16:creationId xmlns:a16="http://schemas.microsoft.com/office/drawing/2014/main" id="{AC642B12-5EDA-1300-C3FF-18256285E079}"/>
                  </a:ext>
                </a:extLst>
              </p:cNvPr>
              <p:cNvSpPr/>
              <p:nvPr/>
            </p:nvSpPr>
            <p:spPr>
              <a:xfrm rot="18718668">
                <a:off x="6798944" y="4944581"/>
                <a:ext cx="1794032" cy="161975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7796547B-4D27-9CC9-3A1D-F16C8A259D9C}"/>
                  </a:ext>
                </a:extLst>
              </p:cNvPr>
              <p:cNvSpPr/>
              <p:nvPr/>
            </p:nvSpPr>
            <p:spPr>
              <a:xfrm rot="18720912">
                <a:off x="5330606" y="3429099"/>
                <a:ext cx="1692260" cy="165812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6C28BB4C-5EFE-3800-7579-C0960F9246A1}"/>
                  </a:ext>
                </a:extLst>
              </p:cNvPr>
              <p:cNvSpPr/>
              <p:nvPr/>
            </p:nvSpPr>
            <p:spPr>
              <a:xfrm rot="18809146">
                <a:off x="3892035" y="2000725"/>
                <a:ext cx="1597234" cy="161975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17" name="Rectangle: Rounded Corners 16">
                <a:extLst>
                  <a:ext uri="{FF2B5EF4-FFF2-40B4-BE49-F238E27FC236}">
                    <a16:creationId xmlns:a16="http://schemas.microsoft.com/office/drawing/2014/main" id="{5B06553B-D960-F767-AD8A-1643CEC29C28}"/>
                  </a:ext>
                </a:extLst>
              </p:cNvPr>
              <p:cNvSpPr/>
              <p:nvPr/>
            </p:nvSpPr>
            <p:spPr>
              <a:xfrm rot="18629221">
                <a:off x="8178737" y="3374723"/>
                <a:ext cx="1597233" cy="161975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C88C3DB3-16F1-EC85-04CF-92139D7767D0}"/>
                  </a:ext>
                </a:extLst>
              </p:cNvPr>
              <p:cNvSpPr/>
              <p:nvPr/>
            </p:nvSpPr>
            <p:spPr>
              <a:xfrm rot="18525452">
                <a:off x="9284186" y="1827237"/>
                <a:ext cx="1831015" cy="163229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7D16945F-D0B3-87AB-F9C4-A40921BFDE08}"/>
                  </a:ext>
                </a:extLst>
              </p:cNvPr>
              <p:cNvSpPr txBox="1"/>
              <p:nvPr/>
            </p:nvSpPr>
            <p:spPr>
              <a:xfrm rot="5400000">
                <a:off x="6545693" y="1938872"/>
                <a:ext cx="2012383" cy="1017462"/>
              </a:xfrm>
              <a:prstGeom prst="rect">
                <a:avLst/>
              </a:prstGeom>
              <a:noFill/>
            </p:spPr>
            <p:txBody>
              <a:bodyPr wrap="square">
                <a:spAutoFit/>
              </a:bodyPr>
              <a:lstStyle/>
              <a:p>
                <a:pPr marR="0" lvl="0" algn="ctr" defTabSz="457200" rtl="0" eaLnBrk="1" fontAlgn="base" latinLnBrk="0" hangingPunct="1">
                  <a:lnSpc>
                    <a:spcPct val="100000"/>
                  </a:lnSpc>
                  <a:spcBef>
                    <a:spcPct val="0"/>
                  </a:spcBef>
                  <a:spcAft>
                    <a:spcPct val="0"/>
                  </a:spcAft>
                  <a:buClrTx/>
                  <a:buSzTx/>
                  <a:tabLst/>
                  <a:defRPr/>
                </a:pPr>
                <a:r>
                  <a:rPr kumimoji="0" lang="en-US" sz="24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Potential impact</a:t>
                </a:r>
              </a:p>
            </p:txBody>
          </p:sp>
          <p:sp>
            <p:nvSpPr>
              <p:cNvPr id="23" name="TextBox 22">
                <a:extLst>
                  <a:ext uri="{FF2B5EF4-FFF2-40B4-BE49-F238E27FC236}">
                    <a16:creationId xmlns:a16="http://schemas.microsoft.com/office/drawing/2014/main" id="{8E4C4DD6-6634-6FBC-8998-65E1F90874E3}"/>
                  </a:ext>
                </a:extLst>
              </p:cNvPr>
              <p:cNvSpPr txBox="1"/>
              <p:nvPr/>
            </p:nvSpPr>
            <p:spPr>
              <a:xfrm rot="5400000">
                <a:off x="3632000" y="2262982"/>
                <a:ext cx="2012383" cy="1177118"/>
              </a:xfrm>
              <a:prstGeom prst="rect">
                <a:avLst/>
              </a:prstGeom>
              <a:noFill/>
            </p:spPr>
            <p:txBody>
              <a:bodyPr wrap="square">
                <a:spAutoFit/>
              </a:bodyPr>
              <a:lstStyle/>
              <a:p>
                <a:pPr lvl="0" algn="ctr">
                  <a:defRPr/>
                </a:pPr>
                <a:r>
                  <a:rPr lang="en-IN" sz="1600" dirty="0"/>
                  <a:t>Air-Gapped Data Sovereignty</a:t>
                </a:r>
                <a:endParaRPr kumimoji="0" lang="en-US" sz="16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25" name="TextBox 24">
                <a:extLst>
                  <a:ext uri="{FF2B5EF4-FFF2-40B4-BE49-F238E27FC236}">
                    <a16:creationId xmlns:a16="http://schemas.microsoft.com/office/drawing/2014/main" id="{BB28DF1B-309F-DF22-CADA-7A9D4E476F77}"/>
                  </a:ext>
                </a:extLst>
              </p:cNvPr>
              <p:cNvSpPr txBox="1"/>
              <p:nvPr/>
            </p:nvSpPr>
            <p:spPr>
              <a:xfrm rot="5400000">
                <a:off x="4934023" y="3706700"/>
                <a:ext cx="2509713" cy="1130512"/>
              </a:xfrm>
              <a:prstGeom prst="rect">
                <a:avLst/>
              </a:prstGeom>
              <a:noFill/>
            </p:spPr>
            <p:txBody>
              <a:bodyPr wrap="square">
                <a:spAutoFit/>
              </a:bodyPr>
              <a:lstStyle/>
              <a:p>
                <a:pPr algn="ctr"/>
                <a:r>
                  <a:rPr lang="en-IN" dirty="0"/>
                  <a:t>Accelerated Operational Efficiency</a:t>
                </a:r>
              </a:p>
            </p:txBody>
          </p:sp>
          <p:sp>
            <p:nvSpPr>
              <p:cNvPr id="27" name="TextBox 26">
                <a:extLst>
                  <a:ext uri="{FF2B5EF4-FFF2-40B4-BE49-F238E27FC236}">
                    <a16:creationId xmlns:a16="http://schemas.microsoft.com/office/drawing/2014/main" id="{831933FD-1632-B05D-ACA1-110DA35A023F}"/>
                  </a:ext>
                </a:extLst>
              </p:cNvPr>
              <p:cNvSpPr txBox="1"/>
              <p:nvPr/>
            </p:nvSpPr>
            <p:spPr>
              <a:xfrm rot="5400000">
                <a:off x="6683145" y="5301996"/>
                <a:ext cx="2079240" cy="831407"/>
              </a:xfrm>
              <a:prstGeom prst="rect">
                <a:avLst/>
              </a:prstGeom>
              <a:noFill/>
            </p:spPr>
            <p:txBody>
              <a:bodyPr wrap="square">
                <a:spAutoFit/>
              </a:bodyPr>
              <a:lstStyle/>
              <a:p>
                <a:pPr algn="ctr"/>
                <a:r>
                  <a:rPr lang="en-IN" dirty="0"/>
                  <a:t>Zero External Dependencies</a:t>
                </a:r>
              </a:p>
            </p:txBody>
          </p:sp>
          <p:sp>
            <p:nvSpPr>
              <p:cNvPr id="29" name="TextBox 28">
                <a:extLst>
                  <a:ext uri="{FF2B5EF4-FFF2-40B4-BE49-F238E27FC236}">
                    <a16:creationId xmlns:a16="http://schemas.microsoft.com/office/drawing/2014/main" id="{BC5C5B16-5139-FC9F-306C-C2A04D5D7E90}"/>
                  </a:ext>
                </a:extLst>
              </p:cNvPr>
              <p:cNvSpPr txBox="1"/>
              <p:nvPr/>
            </p:nvSpPr>
            <p:spPr>
              <a:xfrm rot="5244090">
                <a:off x="8349757" y="3765566"/>
                <a:ext cx="1499086" cy="663730"/>
              </a:xfrm>
              <a:prstGeom prst="rect">
                <a:avLst/>
              </a:prstGeom>
              <a:noFill/>
            </p:spPr>
            <p:txBody>
              <a:bodyPr wrap="square">
                <a:spAutoFit/>
              </a:bodyPr>
              <a:lstStyle/>
              <a:p>
                <a:pPr algn="ctr"/>
                <a:r>
                  <a:rPr lang="en-IN" sz="2000" dirty="0"/>
                  <a:t>Cost Savings</a:t>
                </a:r>
              </a:p>
            </p:txBody>
          </p:sp>
          <p:sp>
            <p:nvSpPr>
              <p:cNvPr id="31" name="TextBox 30">
                <a:extLst>
                  <a:ext uri="{FF2B5EF4-FFF2-40B4-BE49-F238E27FC236}">
                    <a16:creationId xmlns:a16="http://schemas.microsoft.com/office/drawing/2014/main" id="{A3A3B388-B8A8-C361-B7B2-18B41C4812C8}"/>
                  </a:ext>
                </a:extLst>
              </p:cNvPr>
              <p:cNvSpPr txBox="1"/>
              <p:nvPr/>
            </p:nvSpPr>
            <p:spPr>
              <a:xfrm rot="5400000">
                <a:off x="9354279" y="2309481"/>
                <a:ext cx="1825711" cy="831407"/>
              </a:xfrm>
              <a:prstGeom prst="rect">
                <a:avLst/>
              </a:prstGeom>
              <a:noFill/>
            </p:spPr>
            <p:txBody>
              <a:bodyPr wrap="square">
                <a:spAutoFit/>
              </a:bodyPr>
              <a:lstStyle/>
              <a:p>
                <a:pPr algn="ctr"/>
                <a:r>
                  <a:rPr lang="en-IN" dirty="0"/>
                  <a:t>Audit-Ready Compliance</a:t>
                </a:r>
              </a:p>
            </p:txBody>
          </p:sp>
        </p:grpSp>
      </p:grpSp>
      <p:sp>
        <p:nvSpPr>
          <p:cNvPr id="17419" name="TextBox 17418">
            <a:extLst>
              <a:ext uri="{FF2B5EF4-FFF2-40B4-BE49-F238E27FC236}">
                <a16:creationId xmlns:a16="http://schemas.microsoft.com/office/drawing/2014/main" id="{C7C0387A-CB22-6156-F895-57F1E7033249}"/>
              </a:ext>
            </a:extLst>
          </p:cNvPr>
          <p:cNvSpPr txBox="1"/>
          <p:nvPr/>
        </p:nvSpPr>
        <p:spPr>
          <a:xfrm>
            <a:off x="2607195" y="5937635"/>
            <a:ext cx="6108490" cy="707886"/>
          </a:xfrm>
          <a:prstGeom prst="rect">
            <a:avLst/>
          </a:prstGeom>
          <a:noFill/>
        </p:spPr>
        <p:txBody>
          <a:bodyPr wrap="square">
            <a:spAutoFit/>
          </a:bodyPr>
          <a:lstStyle/>
          <a:p>
            <a:pPr algn="ctr"/>
            <a:r>
              <a:rPr lang="en-IN" sz="2000" dirty="0"/>
              <a:t>Eliminates cloud leakage risks by keeping critical industrial intellectual property fully on-premise.</a:t>
            </a:r>
          </a:p>
        </p:txBody>
      </p:sp>
      <p:sp>
        <p:nvSpPr>
          <p:cNvPr id="17421" name="TextBox 17420">
            <a:extLst>
              <a:ext uri="{FF2B5EF4-FFF2-40B4-BE49-F238E27FC236}">
                <a16:creationId xmlns:a16="http://schemas.microsoft.com/office/drawing/2014/main" id="{69F7BD6F-4269-6C31-4710-2C0F6539BF88}"/>
              </a:ext>
            </a:extLst>
          </p:cNvPr>
          <p:cNvSpPr txBox="1"/>
          <p:nvPr/>
        </p:nvSpPr>
        <p:spPr>
          <a:xfrm>
            <a:off x="3116630" y="4836145"/>
            <a:ext cx="5228117" cy="707886"/>
          </a:xfrm>
          <a:prstGeom prst="rect">
            <a:avLst/>
          </a:prstGeom>
          <a:noFill/>
        </p:spPr>
        <p:txBody>
          <a:bodyPr wrap="square">
            <a:spAutoFit/>
          </a:bodyPr>
          <a:lstStyle/>
          <a:p>
            <a:pPr algn="ctr"/>
            <a:r>
              <a:rPr lang="en-IN" sz="2000" dirty="0"/>
              <a:t>Speeds up document parsing, report generation, and data analysis for engineering teams.</a:t>
            </a:r>
          </a:p>
        </p:txBody>
      </p:sp>
      <p:sp>
        <p:nvSpPr>
          <p:cNvPr id="17423" name="TextBox 17422">
            <a:extLst>
              <a:ext uri="{FF2B5EF4-FFF2-40B4-BE49-F238E27FC236}">
                <a16:creationId xmlns:a16="http://schemas.microsoft.com/office/drawing/2014/main" id="{362A3B40-A35F-5792-E84C-7E553E580839}"/>
              </a:ext>
            </a:extLst>
          </p:cNvPr>
          <p:cNvSpPr txBox="1"/>
          <p:nvPr/>
        </p:nvSpPr>
        <p:spPr>
          <a:xfrm>
            <a:off x="4106584" y="3165083"/>
            <a:ext cx="3746288" cy="1323439"/>
          </a:xfrm>
          <a:prstGeom prst="rect">
            <a:avLst/>
          </a:prstGeom>
          <a:noFill/>
        </p:spPr>
        <p:txBody>
          <a:bodyPr wrap="square">
            <a:spAutoFit/>
          </a:bodyPr>
          <a:lstStyle/>
          <a:p>
            <a:pPr algn="ctr"/>
            <a:r>
              <a:rPr lang="en-IN" sz="2000" dirty="0"/>
              <a:t>Ensures continuous AI productivity during ne </a:t>
            </a:r>
            <a:r>
              <a:rPr lang="en-IN" sz="2000" dirty="0" err="1"/>
              <a:t>twork</a:t>
            </a:r>
            <a:r>
              <a:rPr lang="en-IN" sz="2000" dirty="0"/>
              <a:t> outages or strict offline operations.</a:t>
            </a:r>
          </a:p>
        </p:txBody>
      </p:sp>
      <p:sp>
        <p:nvSpPr>
          <p:cNvPr id="17425" name="TextBox 17424">
            <a:extLst>
              <a:ext uri="{FF2B5EF4-FFF2-40B4-BE49-F238E27FC236}">
                <a16:creationId xmlns:a16="http://schemas.microsoft.com/office/drawing/2014/main" id="{E2A3CC87-71C3-288C-3C5C-5DC72DDEE0A4}"/>
              </a:ext>
            </a:extLst>
          </p:cNvPr>
          <p:cNvSpPr txBox="1"/>
          <p:nvPr/>
        </p:nvSpPr>
        <p:spPr>
          <a:xfrm>
            <a:off x="2938250" y="2005673"/>
            <a:ext cx="5446380" cy="707886"/>
          </a:xfrm>
          <a:prstGeom prst="rect">
            <a:avLst/>
          </a:prstGeom>
          <a:noFill/>
        </p:spPr>
        <p:txBody>
          <a:bodyPr wrap="square">
            <a:spAutoFit/>
          </a:bodyPr>
          <a:lstStyle/>
          <a:p>
            <a:pPr algn="ctr"/>
            <a:r>
              <a:rPr lang="en-IN" sz="2000" dirty="0"/>
              <a:t>Avoids recurring per-token cloud API fees through one-time, localized infrastructure deployment.</a:t>
            </a:r>
          </a:p>
        </p:txBody>
      </p:sp>
      <p:sp>
        <p:nvSpPr>
          <p:cNvPr id="17427" name="TextBox 17426">
            <a:extLst>
              <a:ext uri="{FF2B5EF4-FFF2-40B4-BE49-F238E27FC236}">
                <a16:creationId xmlns:a16="http://schemas.microsoft.com/office/drawing/2014/main" id="{4D3F63E3-E180-B4DB-0F06-73823A777FBA}"/>
              </a:ext>
            </a:extLst>
          </p:cNvPr>
          <p:cNvSpPr txBox="1"/>
          <p:nvPr/>
        </p:nvSpPr>
        <p:spPr>
          <a:xfrm>
            <a:off x="2864301" y="959904"/>
            <a:ext cx="5419828" cy="707886"/>
          </a:xfrm>
          <a:prstGeom prst="rect">
            <a:avLst/>
          </a:prstGeom>
          <a:noFill/>
        </p:spPr>
        <p:txBody>
          <a:bodyPr wrap="square">
            <a:spAutoFit/>
          </a:bodyPr>
          <a:lstStyle/>
          <a:p>
            <a:pPr algn="ctr"/>
            <a:r>
              <a:rPr lang="en-IN" sz="2000" dirty="0"/>
              <a:t>Delivers deterministic code execution and strict access control for regulatory peace of mind.</a:t>
            </a:r>
          </a:p>
        </p:txBody>
      </p:sp>
      <p:cxnSp>
        <p:nvCxnSpPr>
          <p:cNvPr id="20" name="Straight Arrow Connector 19">
            <a:extLst>
              <a:ext uri="{FF2B5EF4-FFF2-40B4-BE49-F238E27FC236}">
                <a16:creationId xmlns:a16="http://schemas.microsoft.com/office/drawing/2014/main" id="{007E5349-2E32-EE2A-C80A-45DBDE5A1361}"/>
              </a:ext>
            </a:extLst>
          </p:cNvPr>
          <p:cNvCxnSpPr>
            <a:stCxn id="19" idx="2"/>
          </p:cNvCxnSpPr>
          <p:nvPr/>
        </p:nvCxnSpPr>
        <p:spPr>
          <a:xfrm flipV="1">
            <a:off x="1273316" y="1313847"/>
            <a:ext cx="1728352" cy="55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D8D0C90-BC54-CDFC-F1FB-6DB2D1ADBD2F}"/>
              </a:ext>
            </a:extLst>
          </p:cNvPr>
          <p:cNvCxnSpPr>
            <a:cxnSpLocks/>
            <a:stCxn id="17" idx="2"/>
          </p:cNvCxnSpPr>
          <p:nvPr/>
        </p:nvCxnSpPr>
        <p:spPr>
          <a:xfrm>
            <a:off x="2408296" y="2285585"/>
            <a:ext cx="52995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2C2F35C9-3E6D-C1B5-2AF0-A84E3E41BA02}"/>
              </a:ext>
            </a:extLst>
          </p:cNvPr>
          <p:cNvSpPr txBox="1"/>
          <p:nvPr/>
        </p:nvSpPr>
        <p:spPr>
          <a:xfrm>
            <a:off x="8987588" y="3556011"/>
            <a:ext cx="2976643" cy="523220"/>
          </a:xfrm>
          <a:prstGeom prst="rect">
            <a:avLst/>
          </a:prstGeom>
          <a:noFill/>
        </p:spPr>
        <p:txBody>
          <a:bodyPr wrap="square">
            <a:spAutoFit/>
          </a:bodyPr>
          <a:lstStyle/>
          <a:p>
            <a:pPr algn="ctr"/>
            <a:r>
              <a:rPr lang="en-IN" sz="2800" dirty="0">
                <a:latin typeface="Google Sans Flex"/>
              </a:rPr>
              <a:t>Future prospects</a:t>
            </a:r>
            <a:endParaRPr lang="en-IN" sz="4000" dirty="0"/>
          </a:p>
        </p:txBody>
      </p:sp>
      <p:sp>
        <p:nvSpPr>
          <p:cNvPr id="52" name="TextBox 51">
            <a:extLst>
              <a:ext uri="{FF2B5EF4-FFF2-40B4-BE49-F238E27FC236}">
                <a16:creationId xmlns:a16="http://schemas.microsoft.com/office/drawing/2014/main" id="{30764462-BA0A-CDEA-CE99-A792831EDEAA}"/>
              </a:ext>
            </a:extLst>
          </p:cNvPr>
          <p:cNvSpPr txBox="1"/>
          <p:nvPr/>
        </p:nvSpPr>
        <p:spPr>
          <a:xfrm>
            <a:off x="8534604" y="4080931"/>
            <a:ext cx="3771843" cy="1323439"/>
          </a:xfrm>
          <a:prstGeom prst="rect">
            <a:avLst/>
          </a:prstGeom>
          <a:noFill/>
        </p:spPr>
        <p:txBody>
          <a:bodyPr wrap="square">
            <a:spAutoFit/>
          </a:bodyPr>
          <a:lstStyle/>
          <a:p>
            <a:pPr algn="ctr"/>
            <a:r>
              <a:rPr lang="en-IN" sz="2000" b="1" dirty="0" err="1"/>
              <a:t>Defense</a:t>
            </a:r>
            <a:r>
              <a:rPr lang="en-IN" sz="2000" b="1" dirty="0"/>
              <a:t> &amp; PSU Expansion:</a:t>
            </a:r>
            <a:r>
              <a:rPr lang="en-IN" sz="2000" dirty="0"/>
              <a:t> Scalable adoption across sovereign </a:t>
            </a:r>
            <a:r>
              <a:rPr lang="en-IN" sz="2000" dirty="0" err="1"/>
              <a:t>defense</a:t>
            </a:r>
            <a:r>
              <a:rPr lang="en-IN" sz="2000" dirty="0"/>
              <a:t> units and public infrastructure.</a:t>
            </a:r>
          </a:p>
        </p:txBody>
      </p:sp>
      <p:sp>
        <p:nvSpPr>
          <p:cNvPr id="57" name="TextBox 56">
            <a:extLst>
              <a:ext uri="{FF2B5EF4-FFF2-40B4-BE49-F238E27FC236}">
                <a16:creationId xmlns:a16="http://schemas.microsoft.com/office/drawing/2014/main" id="{694DF1C5-8CA1-2BA6-4344-5877B61DE2D2}"/>
              </a:ext>
            </a:extLst>
          </p:cNvPr>
          <p:cNvSpPr txBox="1"/>
          <p:nvPr/>
        </p:nvSpPr>
        <p:spPr>
          <a:xfrm>
            <a:off x="8466967" y="5547977"/>
            <a:ext cx="3582648" cy="1323439"/>
          </a:xfrm>
          <a:prstGeom prst="rect">
            <a:avLst/>
          </a:prstGeom>
          <a:noFill/>
        </p:spPr>
        <p:txBody>
          <a:bodyPr wrap="square">
            <a:spAutoFit/>
          </a:bodyPr>
          <a:lstStyle/>
          <a:p>
            <a:pPr algn="ctr"/>
            <a:r>
              <a:rPr lang="en-IN" sz="2000" b="1" dirty="0"/>
              <a:t>Tactical Edge AI:</a:t>
            </a:r>
            <a:r>
              <a:rPr lang="en-IN" sz="2000" dirty="0"/>
              <a:t> Future deployment onto field hardware and mobile command micro-nodes.</a:t>
            </a:r>
          </a:p>
        </p:txBody>
      </p:sp>
      <p:sp>
        <p:nvSpPr>
          <p:cNvPr id="59" name="TextBox 58">
            <a:extLst>
              <a:ext uri="{FF2B5EF4-FFF2-40B4-BE49-F238E27FC236}">
                <a16:creationId xmlns:a16="http://schemas.microsoft.com/office/drawing/2014/main" id="{6A9FFF6C-0924-CFE4-0698-86518EC20C4C}"/>
              </a:ext>
            </a:extLst>
          </p:cNvPr>
          <p:cNvSpPr txBox="1"/>
          <p:nvPr/>
        </p:nvSpPr>
        <p:spPr>
          <a:xfrm>
            <a:off x="8687968" y="1018952"/>
            <a:ext cx="2976643" cy="523220"/>
          </a:xfrm>
          <a:prstGeom prst="rect">
            <a:avLst/>
          </a:prstGeom>
          <a:noFill/>
        </p:spPr>
        <p:txBody>
          <a:bodyPr wrap="square">
            <a:spAutoFit/>
          </a:bodyPr>
          <a:lstStyle/>
          <a:p>
            <a:pPr algn="ctr"/>
            <a:r>
              <a:rPr lang="en-IN" sz="2800" dirty="0">
                <a:latin typeface="Google Sans Flex"/>
              </a:rPr>
              <a:t>Benefits</a:t>
            </a:r>
            <a:endParaRPr lang="en-IN" sz="4000" dirty="0"/>
          </a:p>
        </p:txBody>
      </p:sp>
      <p:sp>
        <p:nvSpPr>
          <p:cNvPr id="61" name="TextBox 60">
            <a:extLst>
              <a:ext uri="{FF2B5EF4-FFF2-40B4-BE49-F238E27FC236}">
                <a16:creationId xmlns:a16="http://schemas.microsoft.com/office/drawing/2014/main" id="{5AFFC5BF-14D6-764C-77A4-FE74FD9167AF}"/>
              </a:ext>
            </a:extLst>
          </p:cNvPr>
          <p:cNvSpPr txBox="1"/>
          <p:nvPr/>
        </p:nvSpPr>
        <p:spPr>
          <a:xfrm>
            <a:off x="8786420" y="1489919"/>
            <a:ext cx="2823930" cy="369332"/>
          </a:xfrm>
          <a:prstGeom prst="rect">
            <a:avLst/>
          </a:prstGeom>
          <a:noFill/>
        </p:spPr>
        <p:txBody>
          <a:bodyPr wrap="square">
            <a:spAutoFit/>
          </a:bodyPr>
          <a:lstStyle/>
          <a:p>
            <a:pPr algn="ctr"/>
            <a:r>
              <a:rPr lang="en-IN" b="1" dirty="0"/>
              <a:t>Complete Data Sovereignty</a:t>
            </a:r>
            <a:endParaRPr lang="en-IN" dirty="0"/>
          </a:p>
        </p:txBody>
      </p:sp>
      <p:sp>
        <p:nvSpPr>
          <p:cNvPr id="63" name="TextBox 62">
            <a:extLst>
              <a:ext uri="{FF2B5EF4-FFF2-40B4-BE49-F238E27FC236}">
                <a16:creationId xmlns:a16="http://schemas.microsoft.com/office/drawing/2014/main" id="{C9058CC6-2931-1AF6-27A0-93C0E89CF0CC}"/>
              </a:ext>
            </a:extLst>
          </p:cNvPr>
          <p:cNvSpPr txBox="1"/>
          <p:nvPr/>
        </p:nvSpPr>
        <p:spPr>
          <a:xfrm>
            <a:off x="9054059" y="1873090"/>
            <a:ext cx="2501422" cy="369332"/>
          </a:xfrm>
          <a:prstGeom prst="rect">
            <a:avLst/>
          </a:prstGeom>
          <a:noFill/>
        </p:spPr>
        <p:txBody>
          <a:bodyPr wrap="square">
            <a:spAutoFit/>
          </a:bodyPr>
          <a:lstStyle/>
          <a:p>
            <a:r>
              <a:rPr lang="en-IN" b="1" dirty="0"/>
              <a:t>Drastic Cost Reductions</a:t>
            </a:r>
          </a:p>
        </p:txBody>
      </p:sp>
      <p:sp>
        <p:nvSpPr>
          <p:cNvPr id="17411" name="TextBox 17410">
            <a:extLst>
              <a:ext uri="{FF2B5EF4-FFF2-40B4-BE49-F238E27FC236}">
                <a16:creationId xmlns:a16="http://schemas.microsoft.com/office/drawing/2014/main" id="{D206B5DB-5899-A8B0-4899-73576F25BBBA}"/>
              </a:ext>
            </a:extLst>
          </p:cNvPr>
          <p:cNvSpPr txBox="1"/>
          <p:nvPr/>
        </p:nvSpPr>
        <p:spPr>
          <a:xfrm>
            <a:off x="9253750" y="2250081"/>
            <a:ext cx="2077304" cy="369332"/>
          </a:xfrm>
          <a:prstGeom prst="rect">
            <a:avLst/>
          </a:prstGeom>
          <a:noFill/>
        </p:spPr>
        <p:txBody>
          <a:bodyPr wrap="square">
            <a:spAutoFit/>
          </a:bodyPr>
          <a:lstStyle/>
          <a:p>
            <a:pPr algn="ctr"/>
            <a:r>
              <a:rPr lang="en-IN" b="1" dirty="0"/>
              <a:t>Zero Cloud Reliance</a:t>
            </a:r>
          </a:p>
        </p:txBody>
      </p:sp>
      <p:sp>
        <p:nvSpPr>
          <p:cNvPr id="17413" name="TextBox 17412">
            <a:extLst>
              <a:ext uri="{FF2B5EF4-FFF2-40B4-BE49-F238E27FC236}">
                <a16:creationId xmlns:a16="http://schemas.microsoft.com/office/drawing/2014/main" id="{3C607A1C-93E7-4EB3-319C-C3568785F08D}"/>
              </a:ext>
            </a:extLst>
          </p:cNvPr>
          <p:cNvSpPr txBox="1"/>
          <p:nvPr/>
        </p:nvSpPr>
        <p:spPr>
          <a:xfrm>
            <a:off x="9090051" y="2664991"/>
            <a:ext cx="2574560" cy="369332"/>
          </a:xfrm>
          <a:prstGeom prst="rect">
            <a:avLst/>
          </a:prstGeom>
          <a:noFill/>
        </p:spPr>
        <p:txBody>
          <a:bodyPr wrap="square">
            <a:spAutoFit/>
          </a:bodyPr>
          <a:lstStyle/>
          <a:p>
            <a:r>
              <a:rPr lang="en-IN" b="1" dirty="0"/>
              <a:t>Audit-Ready Compliance</a:t>
            </a:r>
          </a:p>
        </p:txBody>
      </p:sp>
      <p:sp>
        <p:nvSpPr>
          <p:cNvPr id="17416" name="TextBox 17415">
            <a:extLst>
              <a:ext uri="{FF2B5EF4-FFF2-40B4-BE49-F238E27FC236}">
                <a16:creationId xmlns:a16="http://schemas.microsoft.com/office/drawing/2014/main" id="{5D93173D-F0AC-CDF7-F568-D7F1D4539AE2}"/>
              </a:ext>
            </a:extLst>
          </p:cNvPr>
          <p:cNvSpPr txBox="1"/>
          <p:nvPr/>
        </p:nvSpPr>
        <p:spPr>
          <a:xfrm>
            <a:off x="9472801" y="3034323"/>
            <a:ext cx="1663937" cy="369332"/>
          </a:xfrm>
          <a:prstGeom prst="rect">
            <a:avLst/>
          </a:prstGeom>
          <a:noFill/>
        </p:spPr>
        <p:txBody>
          <a:bodyPr wrap="square">
            <a:spAutoFit/>
          </a:bodyPr>
          <a:lstStyle/>
          <a:p>
            <a:pPr algn="ctr"/>
            <a:r>
              <a:rPr lang="en-IN" b="1" dirty="0"/>
              <a:t>High Efficiency</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09600" y="2795263"/>
            <a:ext cx="9385300" cy="52322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Details / Links of the reference and research work</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Oval 2" descr="Your startup LOGO">
            <a:extLst>
              <a:ext uri="{FF2B5EF4-FFF2-40B4-BE49-F238E27FC236}">
                <a16:creationId xmlns:a16="http://schemas.microsoft.com/office/drawing/2014/main" id="{9481D53D-E79D-3557-6DEE-319D0472E7AE}"/>
              </a:ext>
              <a:ext uri="{C183D7F6-B498-43B3-948B-1728B52AA6E4}">
                <adec:decorative xmlns:adec="http://schemas.microsoft.com/office/drawing/2017/decorative" val="0"/>
              </a:ext>
            </a:extLst>
          </p:cNvPr>
          <p:cNvSpPr/>
          <p:nvPr/>
        </p:nvSpPr>
        <p:spPr>
          <a:xfrm>
            <a:off x="162064" y="129001"/>
            <a:ext cx="1439066"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Neoteric</a:t>
            </a:r>
            <a:endParaRPr lang="en-IN" dirty="0"/>
          </a:p>
        </p:txBody>
      </p:sp>
    </p:spTree>
    <p:extLst>
      <p:ext uri="{BB962C8B-B14F-4D97-AF65-F5344CB8AC3E}">
        <p14:creationId xmlns:p14="http://schemas.microsoft.com/office/powerpoint/2010/main" val="3916788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3" name="Round Diagonal Corner Rectangle 2"/>
          <p:cNvSpPr/>
          <p:nvPr/>
        </p:nvSpPr>
        <p:spPr>
          <a:xfrm>
            <a:off x="0" y="1791032"/>
            <a:ext cx="12192000" cy="4319200"/>
          </a:xfrm>
          <a:prstGeom prst="round2DiagRect">
            <a:avLst/>
          </a:prstGeom>
          <a:solidFill>
            <a:schemeClr val="accent1">
              <a:lumMod val="20000"/>
              <a:lumOff val="80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Google Shape;100;p3"/>
          <p:cNvSpPr txBox="1"/>
          <p:nvPr/>
        </p:nvSpPr>
        <p:spPr>
          <a:xfrm>
            <a:off x="367832" y="1915454"/>
            <a:ext cx="11764736" cy="4070356"/>
          </a:xfrm>
          <a:prstGeom prst="rect">
            <a:avLst/>
          </a:prstGeom>
          <a:noFill/>
          <a:ln>
            <a:noFill/>
          </a:ln>
        </p:spPr>
        <p:txBody>
          <a:bodyPr spcFirstLastPara="1" wrap="square" lIns="91425" tIns="45700" rIns="91425" bIns="45700" anchor="t" anchorCtr="0">
            <a:noAutofit/>
          </a:bodyPr>
          <a:lstStyle/>
          <a:p>
            <a:pPr marL="514350" marR="0" lvl="0" indent="-514350" algn="just" rtl="0">
              <a:lnSpc>
                <a:spcPct val="90000"/>
              </a:lnSpc>
              <a:spcBef>
                <a:spcPts val="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Kindly keep the maximum slides limit up to six </a:t>
            </a: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(6). </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Including the title slide)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Try to avoid paragraphs and post your idea in points /diagrams / Infographics /pictures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Keep your explanation precise and easy to understand</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Idea should be unique and novel.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can only use provided </a:t>
            </a:r>
            <a:r>
              <a:rPr lang="en-US" b="1" dirty="0">
                <a:solidFill>
                  <a:schemeClr val="dk1"/>
                </a:solidFill>
                <a:latin typeface="Arial" panose="020B0604020202020204" pitchFamily="34" charset="0"/>
                <a:ea typeface="Calibri"/>
                <a:cs typeface="Arial" panose="020B0604020202020204" pitchFamily="34" charset="0"/>
                <a:sym typeface="Calibri"/>
              </a:rPr>
              <a:t>template</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for making the </a:t>
            </a:r>
            <a:r>
              <a:rPr lang="en-US" b="1" dirty="0">
                <a:solidFill>
                  <a:schemeClr val="dk1"/>
                </a:solidFill>
                <a:latin typeface="Arial" panose="020B0604020202020204" pitchFamily="34" charset="0"/>
                <a:ea typeface="Calibri"/>
                <a:cs typeface="Arial" panose="020B0604020202020204" pitchFamily="34" charset="0"/>
                <a:sym typeface="Calibri"/>
              </a:rPr>
              <a:t>PPT</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without changing the idea details pointers (mentioned in previous slides).</a:t>
            </a: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need to save the file in PDF and upload the same on portal. No PPT, Word Doc or any other format will be supported.</a:t>
            </a:r>
            <a:endParaRPr b="1" dirty="0">
              <a:latin typeface="Arial" panose="020B0604020202020204" pitchFamily="34" charset="0"/>
              <a:cs typeface="Arial" panose="020B0604020202020204" pitchFamily="34" charset="0"/>
            </a:endParaRPr>
          </a:p>
          <a:p>
            <a:pPr marL="514350" marR="0" lvl="0" indent="-349885" algn="just" rtl="0">
              <a:lnSpc>
                <a:spcPct val="90000"/>
              </a:lnSpc>
              <a:spcBef>
                <a:spcPts val="1000"/>
              </a:spcBef>
              <a:spcAft>
                <a:spcPts val="0"/>
              </a:spcAft>
              <a:buClr>
                <a:schemeClr val="dk1"/>
              </a:buClr>
              <a:buSzPct val="100000"/>
              <a:buFont typeface="Calibri"/>
              <a:buNone/>
            </a:pP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0" marR="0" lvl="0" indent="0" algn="just" rtl="0">
              <a:lnSpc>
                <a:spcPct val="90000"/>
              </a:lnSpc>
              <a:spcBef>
                <a:spcPts val="1000"/>
              </a:spcBef>
              <a:spcAft>
                <a:spcPts val="0"/>
              </a:spcAft>
              <a:buClr>
                <a:schemeClr val="dk1"/>
              </a:buClr>
              <a:buSzPct val="100000"/>
              <a:buFont typeface="Arial"/>
              <a:buNone/>
            </a:pP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Note - You can delete this slide (Important Pointers) when you upload the details of your idea on SIH portal.</a:t>
            </a:r>
            <a:endParaRPr b="1" dirty="0">
              <a:solidFill>
                <a:srgbClr val="C00000"/>
              </a:solidFill>
              <a:latin typeface="Arial" panose="020B0604020202020204" pitchFamily="34" charset="0"/>
              <a:cs typeface="Arial" panose="020B0604020202020204" pitchFamily="34" charset="0"/>
            </a:endParaRPr>
          </a:p>
          <a:p>
            <a:pPr marL="914400" marR="0" lvl="1" indent="-316230" algn="just" rtl="0">
              <a:lnSpc>
                <a:spcPct val="90000"/>
              </a:lnSpc>
              <a:spcBef>
                <a:spcPts val="500"/>
              </a:spcBef>
              <a:spcAft>
                <a:spcPts val="0"/>
              </a:spcAft>
              <a:buClr>
                <a:schemeClr val="dk1"/>
              </a:buClr>
              <a:buSzPct val="100000"/>
              <a:buFont typeface="Calibri"/>
              <a:buNone/>
            </a:pPr>
            <a:endParaRPr sz="2000" b="1" i="0" u="none" strike="noStrike" cap="none" dirty="0">
              <a:solidFill>
                <a:schemeClr val="dk1"/>
              </a:solidFill>
              <a:latin typeface="Arial" panose="020B0604020202020204" pitchFamily="34" charset="0"/>
              <a:ea typeface="Calibri"/>
              <a:cs typeface="Arial" panose="020B0604020202020204" pitchFamily="34" charset="0"/>
              <a:sym typeface="Calibri"/>
            </a:endParaRPr>
          </a:p>
        </p:txBody>
      </p:sp>
      <p:sp>
        <p:nvSpPr>
          <p:cNvPr id="4" name="TextBox 3"/>
          <p:cNvSpPr txBox="1"/>
          <p:nvPr/>
        </p:nvSpPr>
        <p:spPr>
          <a:xfrm>
            <a:off x="1393371" y="107066"/>
            <a:ext cx="84105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IMPORTANT INSTRUCTIONS</a:t>
            </a:r>
            <a:endParaRPr lang="en-IN"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02343" y="1181900"/>
            <a:ext cx="9557657" cy="341632"/>
          </a:xfrm>
          <a:prstGeom prst="rect">
            <a:avLst/>
          </a:prstGeom>
          <a:noFill/>
        </p:spPr>
        <p:txBody>
          <a:bodyPr wrap="square" rtlCol="0">
            <a:spAutoFit/>
          </a:bodyPr>
          <a:lstStyle/>
          <a:p>
            <a:pPr algn="just">
              <a:lnSpc>
                <a:spcPct val="90000"/>
              </a:lnSpc>
              <a:spcBef>
                <a:spcPts val="1000"/>
              </a:spcBef>
              <a:spcAft>
                <a:spcPts val="0"/>
              </a:spcAft>
              <a:buClr>
                <a:schemeClr val="dk1"/>
              </a:buClr>
              <a:buSzPct val="100000"/>
            </a:pPr>
            <a:r>
              <a:rPr lang="en-US" b="1" dirty="0">
                <a:solidFill>
                  <a:schemeClr val="dk1"/>
                </a:solidFill>
                <a:latin typeface="Arial" panose="020B0604020202020204" pitchFamily="34" charset="0"/>
                <a:ea typeface="Calibri"/>
                <a:cs typeface="Arial" panose="020B0604020202020204" pitchFamily="34" charset="0"/>
              </a:rPr>
              <a:t>Please ensure below pointers are met while submitting the Idea PPT:</a:t>
            </a:r>
            <a:endParaRPr lang="en-IN" b="1" dirty="0">
              <a:solidFill>
                <a:schemeClr val="dk1"/>
              </a:solidFill>
              <a:latin typeface="Arial" panose="020B0604020202020204" pitchFamily="34" charset="0"/>
              <a:ea typeface="Calibri"/>
              <a:cs typeface="Arial" panose="020B0604020202020204" pitchFamily="34" charset="0"/>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1588084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7749</TotalTime>
  <Words>856</Words>
  <Application>Microsoft Office PowerPoint</Application>
  <PresentationFormat>Widescreen</PresentationFormat>
  <Paragraphs>118</Paragraphs>
  <Slides>7</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ＭＳ Ｐゴシック</vt:lpstr>
      <vt:lpstr>Arial</vt:lpstr>
      <vt:lpstr>Calibri</vt:lpstr>
      <vt:lpstr>Garamond</vt:lpstr>
      <vt:lpstr>Google Sans Flex</vt:lpstr>
      <vt:lpstr>Google Sans Text</vt:lpstr>
      <vt:lpstr>Times New Roman</vt:lpstr>
      <vt:lpstr>TradeGothic</vt:lpstr>
      <vt:lpstr>Office Theme</vt:lpstr>
      <vt:lpstr>SMART INDIA HACKATHON 2026</vt:lpstr>
      <vt:lpstr> L.U.M.I. — Local Unified Multimodal Intelligence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Shawn C Koshy</cp:lastModifiedBy>
  <cp:revision>161</cp:revision>
  <dcterms:created xsi:type="dcterms:W3CDTF">2013-12-12T18:46:50Z</dcterms:created>
  <dcterms:modified xsi:type="dcterms:W3CDTF">2026-09-05T07:58:53Z</dcterms:modified>
  <cp:category/>
</cp:coreProperties>
</file>